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80160"/>
          </a:xfrm>
          <a:prstGeom prst="rect">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10972800" cy="457200"/>
          </a:xfrm>
          <a:prstGeom prst="rect">
            <a:avLst/>
          </a:prstGeom>
          <a:noFill/>
        </p:spPr>
        <p:txBody>
          <a:bodyPr wrap="square" lIns="0" rIns="0" tIns="0" bIns="0" anchor="t">
            <a:spAutoFit/>
          </a:bodyPr>
          <a:lstStyle/>
          <a:p>
            <a:pPr algn="ctr"/>
            <a:r>
              <a:rPr sz="1600" b="1">
                <a:solidFill>
                  <a:srgbClr val="FFFFFF"/>
                </a:solidFill>
                <a:latin typeface="Calibri"/>
              </a:rPr>
              <a:t>UNIVERSITÉ IBA DER THIAM DE THIÈS</a:t>
            </a:r>
          </a:p>
        </p:txBody>
      </p:sp>
      <p:sp>
        <p:nvSpPr>
          <p:cNvPr id="4" name="TextBox 3"/>
          <p:cNvSpPr txBox="1"/>
          <p:nvPr/>
        </p:nvSpPr>
        <p:spPr>
          <a:xfrm>
            <a:off x="457200" y="640080"/>
            <a:ext cx="10972800" cy="457200"/>
          </a:xfrm>
          <a:prstGeom prst="rect">
            <a:avLst/>
          </a:prstGeom>
          <a:noFill/>
        </p:spPr>
        <p:txBody>
          <a:bodyPr wrap="square" lIns="0" rIns="0" tIns="0" bIns="0" anchor="t">
            <a:spAutoFit/>
          </a:bodyPr>
          <a:lstStyle/>
          <a:p>
            <a:pPr algn="ctr"/>
            <a:r>
              <a:rPr sz="1300" b="0">
                <a:solidFill>
                  <a:srgbClr val="FFFFFF"/>
                </a:solidFill>
                <a:latin typeface="Calibri"/>
              </a:rPr>
              <a:t>UFR Sciences et Ingénierie — Département Géomatique</a:t>
            </a:r>
          </a:p>
        </p:txBody>
      </p:sp>
      <p:sp>
        <p:nvSpPr>
          <p:cNvPr id="5" name="TextBox 4"/>
          <p:cNvSpPr txBox="1"/>
          <p:nvPr/>
        </p:nvSpPr>
        <p:spPr>
          <a:xfrm>
            <a:off x="457200" y="1828800"/>
            <a:ext cx="11247120" cy="548640"/>
          </a:xfrm>
          <a:prstGeom prst="rect">
            <a:avLst/>
          </a:prstGeom>
          <a:noFill/>
        </p:spPr>
        <p:txBody>
          <a:bodyPr wrap="square" lIns="0" rIns="0" tIns="0" bIns="0" anchor="t">
            <a:spAutoFit/>
          </a:bodyPr>
          <a:lstStyle/>
          <a:p>
            <a:pPr algn="ctr"/>
            <a:r>
              <a:rPr sz="1800" b="0">
                <a:solidFill>
                  <a:srgbClr val="6C757D"/>
                </a:solidFill>
                <a:latin typeface="Calibri"/>
              </a:rPr>
              <a:t>SOUTENANCE — PROJET POO L2 GÉOMATIQUE</a:t>
            </a:r>
          </a:p>
        </p:txBody>
      </p:sp>
      <p:sp>
        <p:nvSpPr>
          <p:cNvPr id="6" name="TextBox 5"/>
          <p:cNvSpPr txBox="1"/>
          <p:nvPr/>
        </p:nvSpPr>
        <p:spPr>
          <a:xfrm>
            <a:off x="457200" y="2468880"/>
            <a:ext cx="11247120" cy="1371600"/>
          </a:xfrm>
          <a:prstGeom prst="rect">
            <a:avLst/>
          </a:prstGeom>
          <a:noFill/>
        </p:spPr>
        <p:txBody>
          <a:bodyPr wrap="square" lIns="0" rIns="0" tIns="0" bIns="0" anchor="ctr">
            <a:spAutoFit/>
          </a:bodyPr>
          <a:lstStyle/>
          <a:p>
            <a:pPr algn="ctr"/>
            <a:r>
              <a:rPr sz="4000" b="1">
                <a:solidFill>
                  <a:srgbClr val="0A3D91"/>
                </a:solidFill>
                <a:latin typeface="Calibri"/>
              </a:rPr>
              <a:t>Gestion de l'Emprunt du Matériel
Topographique et Géodésique</a:t>
            </a:r>
          </a:p>
        </p:txBody>
      </p:sp>
      <p:sp>
        <p:nvSpPr>
          <p:cNvPr id="7" name="Rectangle 6"/>
          <p:cNvSpPr/>
          <p:nvPr/>
        </p:nvSpPr>
        <p:spPr>
          <a:xfrm>
            <a:off x="4572000" y="4114800"/>
            <a:ext cx="3017520" cy="38000"/>
          </a:xfrm>
          <a:prstGeom prst="rect">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4389120"/>
            <a:ext cx="11247120" cy="457200"/>
          </a:xfrm>
          <a:prstGeom prst="rect">
            <a:avLst/>
          </a:prstGeom>
          <a:noFill/>
        </p:spPr>
        <p:txBody>
          <a:bodyPr wrap="square" lIns="0" rIns="0" tIns="0" bIns="0" anchor="t">
            <a:spAutoFit/>
          </a:bodyPr>
          <a:lstStyle/>
          <a:p>
            <a:pPr algn="ctr"/>
            <a:r>
              <a:rPr sz="1400" b="0">
                <a:solidFill>
                  <a:srgbClr val="6C757D"/>
                </a:solidFill>
                <a:latin typeface="Calibri"/>
              </a:rPr>
              <a:t>Présenté par</a:t>
            </a:r>
          </a:p>
        </p:txBody>
      </p:sp>
      <p:sp>
        <p:nvSpPr>
          <p:cNvPr id="9" name="TextBox 8"/>
          <p:cNvSpPr txBox="1"/>
          <p:nvPr/>
        </p:nvSpPr>
        <p:spPr>
          <a:xfrm>
            <a:off x="457200" y="4754880"/>
            <a:ext cx="11247120" cy="457200"/>
          </a:xfrm>
          <a:prstGeom prst="rect">
            <a:avLst/>
          </a:prstGeom>
          <a:noFill/>
        </p:spPr>
        <p:txBody>
          <a:bodyPr wrap="square" lIns="0" rIns="0" tIns="0" bIns="0" anchor="t">
            <a:spAutoFit/>
          </a:bodyPr>
          <a:lstStyle/>
          <a:p>
            <a:pPr algn="ctr"/>
            <a:r>
              <a:rPr sz="2200" b="1">
                <a:solidFill>
                  <a:srgbClr val="1A2332"/>
                </a:solidFill>
                <a:latin typeface="Calibri"/>
              </a:rPr>
              <a:t>Bineta HANNE  &amp;  Aminata KOUNTA</a:t>
            </a:r>
          </a:p>
        </p:txBody>
      </p:sp>
      <p:sp>
        <p:nvSpPr>
          <p:cNvPr id="10" name="TextBox 9"/>
          <p:cNvSpPr txBox="1"/>
          <p:nvPr/>
        </p:nvSpPr>
        <p:spPr>
          <a:xfrm>
            <a:off x="457200" y="5212080"/>
            <a:ext cx="11247120" cy="365760"/>
          </a:xfrm>
          <a:prstGeom prst="rect">
            <a:avLst/>
          </a:prstGeom>
          <a:noFill/>
        </p:spPr>
        <p:txBody>
          <a:bodyPr wrap="square" lIns="0" rIns="0" tIns="0" bIns="0" anchor="t">
            <a:spAutoFit/>
          </a:bodyPr>
          <a:lstStyle/>
          <a:p>
            <a:pPr algn="ctr"/>
            <a:r>
              <a:rPr sz="1300" b="0">
                <a:solidFill>
                  <a:srgbClr val="6C757D"/>
                </a:solidFill>
                <a:latin typeface="Calibri"/>
              </a:rPr>
              <a:t>Étudiantes en L2 Géomatique</a:t>
            </a:r>
          </a:p>
        </p:txBody>
      </p:sp>
      <p:sp>
        <p:nvSpPr>
          <p:cNvPr id="11" name="Rectangle 10"/>
          <p:cNvSpPr/>
          <p:nvPr/>
        </p:nvSpPr>
        <p:spPr>
          <a:xfrm>
            <a:off x="0" y="6217920"/>
            <a:ext cx="12191695" cy="640080"/>
          </a:xfrm>
          <a:prstGeom prst="rect">
            <a:avLst/>
          </a:prstGeom>
          <a:solidFill>
            <a:srgbClr val="0A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355080"/>
            <a:ext cx="11247120" cy="365760"/>
          </a:xfrm>
          <a:prstGeom prst="rect">
            <a:avLst/>
          </a:prstGeom>
          <a:noFill/>
        </p:spPr>
        <p:txBody>
          <a:bodyPr wrap="square" lIns="0" rIns="0" tIns="0" bIns="0" anchor="t">
            <a:spAutoFit/>
          </a:bodyPr>
          <a:lstStyle/>
          <a:p>
            <a:pPr algn="ctr"/>
            <a:r>
              <a:rPr sz="1400" b="1">
                <a:solidFill>
                  <a:srgbClr val="FFFFFF"/>
                </a:solidFill>
                <a:latin typeface="Calibri"/>
              </a:rPr>
              <a:t>Année universitaire 2025-2026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10515600" cy="457200"/>
          </a:xfrm>
          <a:prstGeom prst="rect">
            <a:avLst/>
          </a:prstGeom>
          <a:noFill/>
        </p:spPr>
        <p:txBody>
          <a:bodyPr wrap="square" lIns="0" rIns="0" tIns="0" bIns="0" anchor="t">
            <a:spAutoFit/>
          </a:bodyPr>
          <a:lstStyle/>
          <a:p>
            <a:pPr algn="l"/>
            <a:r>
              <a:rPr sz="2400" b="1">
                <a:solidFill>
                  <a:srgbClr val="FFFFFF"/>
                </a:solidFill>
                <a:latin typeface="Calibri"/>
              </a:rPr>
              <a:t>Plan de la présentation</a:t>
            </a:r>
          </a:p>
        </p:txBody>
      </p:sp>
      <p:sp>
        <p:nvSpPr>
          <p:cNvPr id="4" name="TextBox 3"/>
          <p:cNvSpPr txBox="1"/>
          <p:nvPr/>
        </p:nvSpPr>
        <p:spPr>
          <a:xfrm>
            <a:off x="10515600" y="228600"/>
            <a:ext cx="1371600" cy="457200"/>
          </a:xfrm>
          <a:prstGeom prst="rect">
            <a:avLst/>
          </a:prstGeom>
          <a:noFill/>
        </p:spPr>
        <p:txBody>
          <a:bodyPr wrap="square" lIns="0" rIns="0" tIns="0" bIns="0" anchor="t">
            <a:spAutoFit/>
          </a:bodyPr>
          <a:lstStyle/>
          <a:p>
            <a:pPr algn="r"/>
            <a:r>
              <a:rPr sz="1200" b="0">
                <a:solidFill>
                  <a:srgbClr val="FFFFFF"/>
                </a:solidFill>
                <a:latin typeface="Calibri"/>
              </a:rPr>
              <a:t>2/22</a:t>
            </a:r>
          </a:p>
        </p:txBody>
      </p:sp>
      <p:sp>
        <p:nvSpPr>
          <p:cNvPr id="5" name="TextBox 4"/>
          <p:cNvSpPr txBox="1"/>
          <p:nvPr/>
        </p:nvSpPr>
        <p:spPr>
          <a:xfrm>
            <a:off x="640080" y="1371600"/>
            <a:ext cx="5486400" cy="4572000"/>
          </a:xfrm>
          <a:prstGeom prst="rect">
            <a:avLst/>
          </a:prstGeom>
          <a:noFill/>
        </p:spPr>
        <p:txBody>
          <a:bodyPr wrap="square">
            <a:spAutoFit/>
          </a:bodyPr>
          <a:lstStyle/>
          <a:p>
            <a:pPr algn="l">
              <a:lnSpc>
                <a:spcPct val="130000"/>
              </a:lnSpc>
            </a:pPr>
            <a:r>
              <a:rPr sz="2000">
                <a:solidFill>
                  <a:srgbClr val="1A2332"/>
                </a:solidFill>
                <a:latin typeface="Calibri"/>
              </a:rPr>
              <a:t>• 1. Contexte et problématique</a:t>
            </a:r>
          </a:p>
          <a:p>
            <a:pPr algn="l">
              <a:lnSpc>
                <a:spcPct val="130000"/>
              </a:lnSpc>
            </a:pPr>
            <a:r>
              <a:rPr sz="2000">
                <a:solidFill>
                  <a:srgbClr val="1A2332"/>
                </a:solidFill>
                <a:latin typeface="Calibri"/>
              </a:rPr>
              <a:t>• 2. Objectifs du projet</a:t>
            </a:r>
          </a:p>
          <a:p>
            <a:pPr algn="l">
              <a:lnSpc>
                <a:spcPct val="130000"/>
              </a:lnSpc>
            </a:pPr>
            <a:r>
              <a:rPr sz="2000">
                <a:solidFill>
                  <a:srgbClr val="1A2332"/>
                </a:solidFill>
                <a:latin typeface="Calibri"/>
              </a:rPr>
              <a:t>• 3. Architecture technique</a:t>
            </a:r>
          </a:p>
          <a:p>
            <a:pPr algn="l">
              <a:lnSpc>
                <a:spcPct val="130000"/>
              </a:lnSpc>
            </a:pPr>
            <a:r>
              <a:rPr sz="2000">
                <a:solidFill>
                  <a:srgbClr val="1A2332"/>
                </a:solidFill>
                <a:latin typeface="Calibri"/>
              </a:rPr>
              <a:t>• 4. Modélisation (UML &amp; BD)</a:t>
            </a:r>
          </a:p>
          <a:p>
            <a:pPr algn="l">
              <a:lnSpc>
                <a:spcPct val="130000"/>
              </a:lnSpc>
            </a:pPr>
            <a:r>
              <a:rPr sz="2000">
                <a:solidFill>
                  <a:srgbClr val="1A2332"/>
                </a:solidFill>
                <a:latin typeface="Calibri"/>
              </a:rPr>
              <a:t>• 5. Backend Django + DRF</a:t>
            </a:r>
          </a:p>
          <a:p>
            <a:pPr algn="l">
              <a:lnSpc>
                <a:spcPct val="130000"/>
              </a:lnSpc>
            </a:pPr>
            <a:r>
              <a:rPr sz="2000">
                <a:solidFill>
                  <a:srgbClr val="1A2332"/>
                </a:solidFill>
                <a:latin typeface="Calibri"/>
              </a:rPr>
              <a:t>• 6. Frontend &amp; cartographie</a:t>
            </a:r>
          </a:p>
        </p:txBody>
      </p:sp>
      <p:sp>
        <p:nvSpPr>
          <p:cNvPr id="6" name="TextBox 5"/>
          <p:cNvSpPr txBox="1"/>
          <p:nvPr/>
        </p:nvSpPr>
        <p:spPr>
          <a:xfrm>
            <a:off x="6400800" y="1371600"/>
            <a:ext cx="5486400" cy="4572000"/>
          </a:xfrm>
          <a:prstGeom prst="rect">
            <a:avLst/>
          </a:prstGeom>
          <a:noFill/>
        </p:spPr>
        <p:txBody>
          <a:bodyPr wrap="square">
            <a:spAutoFit/>
          </a:bodyPr>
          <a:lstStyle/>
          <a:p>
            <a:pPr algn="l">
              <a:lnSpc>
                <a:spcPct val="130000"/>
              </a:lnSpc>
            </a:pPr>
            <a:r>
              <a:rPr sz="2000">
                <a:solidFill>
                  <a:srgbClr val="1A2332"/>
                </a:solidFill>
                <a:latin typeface="Calibri"/>
              </a:rPr>
              <a:t>• 7. Corpus IA &amp; dataset</a:t>
            </a:r>
          </a:p>
          <a:p>
            <a:pPr algn="l">
              <a:lnSpc>
                <a:spcPct val="130000"/>
              </a:lnSpc>
            </a:pPr>
            <a:r>
              <a:rPr sz="2000">
                <a:solidFill>
                  <a:srgbClr val="1A2332"/>
                </a:solidFill>
                <a:latin typeface="Calibri"/>
              </a:rPr>
              <a:t>• 8. Fine-tuning Phi-3 + LoRA</a:t>
            </a:r>
          </a:p>
          <a:p>
            <a:pPr algn="l">
              <a:lnSpc>
                <a:spcPct val="130000"/>
              </a:lnSpc>
            </a:pPr>
            <a:r>
              <a:rPr sz="2000">
                <a:solidFill>
                  <a:srgbClr val="1A2332"/>
                </a:solidFill>
                <a:latin typeface="Calibri"/>
              </a:rPr>
              <a:t>• 9. Intégration chatbot</a:t>
            </a:r>
          </a:p>
          <a:p>
            <a:pPr algn="l">
              <a:lnSpc>
                <a:spcPct val="130000"/>
              </a:lnSpc>
            </a:pPr>
            <a:r>
              <a:rPr sz="2000">
                <a:solidFill>
                  <a:srgbClr val="1A2332"/>
                </a:solidFill>
                <a:latin typeface="Calibri"/>
              </a:rPr>
              <a:t>• 10. Démonstration</a:t>
            </a:r>
          </a:p>
          <a:p>
            <a:pPr algn="l">
              <a:lnSpc>
                <a:spcPct val="130000"/>
              </a:lnSpc>
            </a:pPr>
            <a:r>
              <a:rPr sz="2000">
                <a:solidFill>
                  <a:srgbClr val="1A2332"/>
                </a:solidFill>
                <a:latin typeface="Calibri"/>
              </a:rPr>
              <a:t>• 11. Conclusion &amp; perspectives</a:t>
            </a:r>
          </a:p>
          <a:p>
            <a:pPr algn="l">
              <a:lnSpc>
                <a:spcPct val="130000"/>
              </a:lnSpc>
            </a:pPr>
            <a:r>
              <a:rPr sz="2000">
                <a:solidFill>
                  <a:srgbClr val="1A2332"/>
                </a:solidFill>
                <a:latin typeface="Calibri"/>
              </a:rPr>
              <a:t>• 12. Questions / Réponses</a:t>
            </a:r>
          </a:p>
        </p:txBody>
      </p:sp>
      <p:sp>
        <p:nvSpPr>
          <p:cNvPr id="7" name="Rectangle 6"/>
          <p:cNvSpPr/>
          <p:nvPr/>
        </p:nvSpPr>
        <p:spPr>
          <a:xfrm>
            <a:off x="0" y="6400800"/>
            <a:ext cx="12191695" cy="4572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7315200" cy="320040"/>
          </a:xfrm>
          <a:prstGeom prst="rect">
            <a:avLst/>
          </a:prstGeom>
          <a:noFill/>
        </p:spPr>
        <p:txBody>
          <a:bodyPr wrap="square" lIns="0" rIns="0" tIns="0" bIns="0" anchor="t">
            <a:spAutoFit/>
          </a:bodyPr>
          <a:lstStyle/>
          <a:p>
            <a:pPr algn="l"/>
            <a:r>
              <a:rPr sz="1000" b="0">
                <a:solidFill>
                  <a:srgbClr val="6C757D"/>
                </a:solidFill>
                <a:latin typeface="Calibri"/>
              </a:rPr>
              <a:t>Hanne &amp; Kounta — Gestion Emprunt Matériel Topographique — UFR SI UIDT</a:t>
            </a:r>
          </a:p>
        </p:txBody>
      </p:sp>
      <p:sp>
        <p:nvSpPr>
          <p:cNvPr id="9" name="TextBox 8"/>
          <p:cNvSpPr txBox="1"/>
          <p:nvPr/>
        </p:nvSpPr>
        <p:spPr>
          <a:xfrm>
            <a:off x="10515600" y="6473952"/>
            <a:ext cx="1371600" cy="320040"/>
          </a:xfrm>
          <a:prstGeom prst="rect">
            <a:avLst/>
          </a:prstGeom>
          <a:noFill/>
        </p:spPr>
        <p:txBody>
          <a:bodyPr wrap="square" lIns="0" rIns="0" tIns="0" bIns="0" anchor="t">
            <a:spAutoFit/>
          </a:bodyPr>
          <a:lstStyle/>
          <a:p>
            <a:pPr algn="r"/>
            <a:r>
              <a:rPr sz="1000" b="0">
                <a:solidFill>
                  <a:srgbClr val="6C757D"/>
                </a:solidFill>
                <a:latin typeface="Calibri"/>
              </a:rPr>
              <a:t>2 / 22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10515600" cy="457200"/>
          </a:xfrm>
          <a:prstGeom prst="rect">
            <a:avLst/>
          </a:prstGeom>
          <a:noFill/>
        </p:spPr>
        <p:txBody>
          <a:bodyPr wrap="square" lIns="0" rIns="0" tIns="0" bIns="0" anchor="t">
            <a:spAutoFit/>
          </a:bodyPr>
          <a:lstStyle/>
          <a:p>
            <a:pPr algn="l"/>
            <a:r>
              <a:rPr sz="2400" b="1">
                <a:solidFill>
                  <a:srgbClr val="FFFFFF"/>
                </a:solidFill>
                <a:latin typeface="Calibri"/>
              </a:rPr>
              <a:t>1. Contexte</a:t>
            </a:r>
          </a:p>
        </p:txBody>
      </p:sp>
      <p:sp>
        <p:nvSpPr>
          <p:cNvPr id="4" name="TextBox 3"/>
          <p:cNvSpPr txBox="1"/>
          <p:nvPr/>
        </p:nvSpPr>
        <p:spPr>
          <a:xfrm>
            <a:off x="10515600" y="228600"/>
            <a:ext cx="1371600" cy="457200"/>
          </a:xfrm>
          <a:prstGeom prst="rect">
            <a:avLst/>
          </a:prstGeom>
          <a:noFill/>
        </p:spPr>
        <p:txBody>
          <a:bodyPr wrap="square" lIns="0" rIns="0" tIns="0" bIns="0" anchor="t">
            <a:spAutoFit/>
          </a:bodyPr>
          <a:lstStyle/>
          <a:p>
            <a:pPr algn="r"/>
            <a:r>
              <a:rPr sz="1200" b="0">
                <a:solidFill>
                  <a:srgbClr val="FFFFFF"/>
                </a:solidFill>
                <a:latin typeface="Calibri"/>
              </a:rPr>
              <a:t>3/22</a:t>
            </a:r>
          </a:p>
        </p:txBody>
      </p:sp>
      <p:sp>
        <p:nvSpPr>
          <p:cNvPr id="5" name="TextBox 4"/>
          <p:cNvSpPr txBox="1"/>
          <p:nvPr/>
        </p:nvSpPr>
        <p:spPr>
          <a:xfrm>
            <a:off x="640080" y="1280160"/>
            <a:ext cx="10972800" cy="457200"/>
          </a:xfrm>
          <a:prstGeom prst="rect">
            <a:avLst/>
          </a:prstGeom>
          <a:noFill/>
        </p:spPr>
        <p:txBody>
          <a:bodyPr wrap="square" lIns="0" rIns="0" tIns="0" bIns="0" anchor="t">
            <a:spAutoFit/>
          </a:bodyPr>
          <a:lstStyle/>
          <a:p>
            <a:pPr algn="l"/>
            <a:r>
              <a:rPr sz="2000" b="1">
                <a:solidFill>
                  <a:srgbClr val="0A3D91"/>
                </a:solidFill>
                <a:latin typeface="Calibri"/>
              </a:rPr>
              <a:t>L'UFR SI dispose d'équipements topographiques coûteux</a:t>
            </a:r>
          </a:p>
        </p:txBody>
      </p:sp>
      <p:sp>
        <p:nvSpPr>
          <p:cNvPr id="6" name="TextBox 5"/>
          <p:cNvSpPr txBox="1"/>
          <p:nvPr/>
        </p:nvSpPr>
        <p:spPr>
          <a:xfrm>
            <a:off x="640080" y="1828800"/>
            <a:ext cx="10972800" cy="4572000"/>
          </a:xfrm>
          <a:prstGeom prst="rect">
            <a:avLst/>
          </a:prstGeom>
          <a:noFill/>
        </p:spPr>
        <p:txBody>
          <a:bodyPr wrap="square">
            <a:spAutoFit/>
          </a:bodyPr>
          <a:lstStyle/>
          <a:p>
            <a:pPr algn="l">
              <a:lnSpc>
                <a:spcPct val="130000"/>
              </a:lnSpc>
            </a:pPr>
            <a:r>
              <a:rPr sz="1800">
                <a:solidFill>
                  <a:srgbClr val="1A2332"/>
                </a:solidFill>
                <a:latin typeface="Calibri"/>
              </a:rPr>
              <a:t>• Stations totales, GPS différentiels, niveaux, jalons, prismes, trépieds…</a:t>
            </a:r>
          </a:p>
          <a:p>
            <a:pPr algn="l">
              <a:lnSpc>
                <a:spcPct val="130000"/>
              </a:lnSpc>
            </a:pPr>
            <a:r>
              <a:rPr sz="1800">
                <a:solidFill>
                  <a:srgbClr val="1A2332"/>
                </a:solidFill>
                <a:latin typeface="Calibri"/>
              </a:rPr>
              <a:t>• Prêtés régulièrement aux étudiants pour TP et travaux de terrain</a:t>
            </a:r>
          </a:p>
          <a:p>
            <a:pPr algn="l">
              <a:lnSpc>
                <a:spcPct val="130000"/>
              </a:lnSpc>
            </a:pPr>
            <a:r>
              <a:rPr sz="1800">
                <a:solidFill>
                  <a:srgbClr val="1A2332"/>
                </a:solidFill>
                <a:latin typeface="Calibri"/>
              </a:rPr>
              <a:t>• Gestion actuelle entièrement manuelle (registres papier, feuilles Excel)</a:t>
            </a:r>
          </a:p>
          <a:p>
            <a:pPr algn="l">
              <a:lnSpc>
                <a:spcPct val="130000"/>
              </a:lnSpc>
            </a:pPr>
            <a:r>
              <a:rPr sz="1800">
                <a:solidFill>
                  <a:srgbClr val="1A2332"/>
                </a:solidFill>
                <a:latin typeface="Calibri"/>
              </a:rPr>
              <a:t>• Risques : perte de matériel, retards de restitution, conflits d'agenda</a:t>
            </a:r>
          </a:p>
          <a:p>
            <a:pPr algn="l">
              <a:lnSpc>
                <a:spcPct val="130000"/>
              </a:lnSpc>
            </a:pPr>
            <a:r>
              <a:rPr sz="1800">
                <a:solidFill>
                  <a:srgbClr val="1A2332"/>
                </a:solidFill>
                <a:latin typeface="Calibri"/>
              </a:rPr>
              <a:t>• Pas de visibilité en temps réel sur la disponibilité des équipements</a:t>
            </a:r>
          </a:p>
          <a:p>
            <a:pPr algn="l">
              <a:lnSpc>
                <a:spcPct val="130000"/>
              </a:lnSpc>
            </a:pPr>
            <a:r>
              <a:rPr sz="1800">
                <a:solidFill>
                  <a:srgbClr val="1A2332"/>
                </a:solidFill>
                <a:latin typeface="Calibri"/>
              </a:rPr>
              <a:t>• Manque d'historique exploitable pour la maintenance</a:t>
            </a:r>
          </a:p>
        </p:txBody>
      </p:sp>
      <p:sp>
        <p:nvSpPr>
          <p:cNvPr id="7" name="Rectangle 6"/>
          <p:cNvSpPr/>
          <p:nvPr/>
        </p:nvSpPr>
        <p:spPr>
          <a:xfrm>
            <a:off x="0" y="6400800"/>
            <a:ext cx="12191695" cy="4572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7315200" cy="320040"/>
          </a:xfrm>
          <a:prstGeom prst="rect">
            <a:avLst/>
          </a:prstGeom>
          <a:noFill/>
        </p:spPr>
        <p:txBody>
          <a:bodyPr wrap="square" lIns="0" rIns="0" tIns="0" bIns="0" anchor="t">
            <a:spAutoFit/>
          </a:bodyPr>
          <a:lstStyle/>
          <a:p>
            <a:pPr algn="l"/>
            <a:r>
              <a:rPr sz="1000" b="0">
                <a:solidFill>
                  <a:srgbClr val="6C757D"/>
                </a:solidFill>
                <a:latin typeface="Calibri"/>
              </a:rPr>
              <a:t>Hanne &amp; Kounta — Gestion Emprunt Matériel Topographique — UFR SI UIDT</a:t>
            </a:r>
          </a:p>
        </p:txBody>
      </p:sp>
      <p:sp>
        <p:nvSpPr>
          <p:cNvPr id="9" name="TextBox 8"/>
          <p:cNvSpPr txBox="1"/>
          <p:nvPr/>
        </p:nvSpPr>
        <p:spPr>
          <a:xfrm>
            <a:off x="10515600" y="6473952"/>
            <a:ext cx="1371600" cy="320040"/>
          </a:xfrm>
          <a:prstGeom prst="rect">
            <a:avLst/>
          </a:prstGeom>
          <a:noFill/>
        </p:spPr>
        <p:txBody>
          <a:bodyPr wrap="square" lIns="0" rIns="0" tIns="0" bIns="0" anchor="t">
            <a:spAutoFit/>
          </a:bodyPr>
          <a:lstStyle/>
          <a:p>
            <a:pPr algn="r"/>
            <a:r>
              <a:rPr sz="1000" b="0">
                <a:solidFill>
                  <a:srgbClr val="6C757D"/>
                </a:solidFill>
                <a:latin typeface="Calibri"/>
              </a:rPr>
              <a:t>3 / 22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10515600" cy="457200"/>
          </a:xfrm>
          <a:prstGeom prst="rect">
            <a:avLst/>
          </a:prstGeom>
          <a:noFill/>
        </p:spPr>
        <p:txBody>
          <a:bodyPr wrap="square" lIns="0" rIns="0" tIns="0" bIns="0" anchor="t">
            <a:spAutoFit/>
          </a:bodyPr>
          <a:lstStyle/>
          <a:p>
            <a:pPr algn="l"/>
            <a:r>
              <a:rPr sz="2400" b="1">
                <a:solidFill>
                  <a:srgbClr val="FFFFFF"/>
                </a:solidFill>
                <a:latin typeface="Calibri"/>
              </a:rPr>
              <a:t>1. Problématique</a:t>
            </a:r>
          </a:p>
        </p:txBody>
      </p:sp>
      <p:sp>
        <p:nvSpPr>
          <p:cNvPr id="4" name="TextBox 3"/>
          <p:cNvSpPr txBox="1"/>
          <p:nvPr/>
        </p:nvSpPr>
        <p:spPr>
          <a:xfrm>
            <a:off x="10515600" y="228600"/>
            <a:ext cx="1371600" cy="457200"/>
          </a:xfrm>
          <a:prstGeom prst="rect">
            <a:avLst/>
          </a:prstGeom>
          <a:noFill/>
        </p:spPr>
        <p:txBody>
          <a:bodyPr wrap="square" lIns="0" rIns="0" tIns="0" bIns="0" anchor="t">
            <a:spAutoFit/>
          </a:bodyPr>
          <a:lstStyle/>
          <a:p>
            <a:pPr algn="r"/>
            <a:r>
              <a:rPr sz="1200" b="0">
                <a:solidFill>
                  <a:srgbClr val="FFFFFF"/>
                </a:solidFill>
                <a:latin typeface="Calibri"/>
              </a:rPr>
              <a:t>4/22</a:t>
            </a:r>
          </a:p>
        </p:txBody>
      </p:sp>
      <p:sp>
        <p:nvSpPr>
          <p:cNvPr id="5" name="Rectangle 4"/>
          <p:cNvSpPr/>
          <p:nvPr/>
        </p:nvSpPr>
        <p:spPr>
          <a:xfrm>
            <a:off x="914400" y="1554480"/>
            <a:ext cx="10332720" cy="13716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783080"/>
            <a:ext cx="9784080" cy="914400"/>
          </a:xfrm>
          <a:prstGeom prst="rect">
            <a:avLst/>
          </a:prstGeom>
          <a:noFill/>
        </p:spPr>
        <p:txBody>
          <a:bodyPr wrap="square" lIns="0" rIns="0" tIns="0" bIns="0" anchor="ctr">
            <a:spAutoFit/>
          </a:bodyPr>
          <a:lstStyle/>
          <a:p>
            <a:pPr algn="ctr"/>
            <a:r>
              <a:rPr sz="2200" b="1">
                <a:solidFill>
                  <a:srgbClr val="0A3D91"/>
                </a:solidFill>
                <a:latin typeface="Calibri"/>
              </a:rPr>
              <a:t>Comment moderniser et fiabiliser la gestion des emprunts
de matériel topographique et géodésique à l'UFR SI ?</a:t>
            </a:r>
          </a:p>
        </p:txBody>
      </p:sp>
      <p:sp>
        <p:nvSpPr>
          <p:cNvPr id="7" name="TextBox 6"/>
          <p:cNvSpPr txBox="1"/>
          <p:nvPr/>
        </p:nvSpPr>
        <p:spPr>
          <a:xfrm>
            <a:off x="640080" y="3200400"/>
            <a:ext cx="10972800" cy="457200"/>
          </a:xfrm>
          <a:prstGeom prst="rect">
            <a:avLst/>
          </a:prstGeom>
          <a:noFill/>
        </p:spPr>
        <p:txBody>
          <a:bodyPr wrap="square" lIns="0" rIns="0" tIns="0" bIns="0" anchor="t">
            <a:spAutoFit/>
          </a:bodyPr>
          <a:lstStyle/>
          <a:p>
            <a:pPr algn="l"/>
            <a:r>
              <a:rPr sz="1800" b="1">
                <a:solidFill>
                  <a:srgbClr val="0D6EFD"/>
                </a:solidFill>
                <a:latin typeface="Calibri"/>
              </a:rPr>
              <a:t>Sous-questions :</a:t>
            </a:r>
          </a:p>
        </p:txBody>
      </p:sp>
      <p:sp>
        <p:nvSpPr>
          <p:cNvPr id="8" name="TextBox 7"/>
          <p:cNvSpPr txBox="1"/>
          <p:nvPr/>
        </p:nvSpPr>
        <p:spPr>
          <a:xfrm>
            <a:off x="640080" y="3657600"/>
            <a:ext cx="10972800" cy="2743200"/>
          </a:xfrm>
          <a:prstGeom prst="rect">
            <a:avLst/>
          </a:prstGeom>
          <a:noFill/>
        </p:spPr>
        <p:txBody>
          <a:bodyPr wrap="square">
            <a:spAutoFit/>
          </a:bodyPr>
          <a:lstStyle/>
          <a:p>
            <a:pPr algn="l">
              <a:lnSpc>
                <a:spcPct val="130000"/>
              </a:lnSpc>
            </a:pPr>
            <a:r>
              <a:rPr sz="1800">
                <a:solidFill>
                  <a:srgbClr val="1A2332"/>
                </a:solidFill>
                <a:latin typeface="Calibri"/>
              </a:rPr>
              <a:t>• Comment automatiser le workflow de demande / validation / restitution ?</a:t>
            </a:r>
          </a:p>
          <a:p>
            <a:pPr algn="l">
              <a:lnSpc>
                <a:spcPct val="130000"/>
              </a:lnSpc>
            </a:pPr>
            <a:r>
              <a:rPr sz="1800">
                <a:solidFill>
                  <a:srgbClr val="1A2332"/>
                </a:solidFill>
                <a:latin typeface="Calibri"/>
              </a:rPr>
              <a:t>• Comment offrir une cartographie des points GPS levés sur le terrain ?</a:t>
            </a:r>
          </a:p>
          <a:p>
            <a:pPr algn="l">
              <a:lnSpc>
                <a:spcPct val="130000"/>
              </a:lnSpc>
            </a:pPr>
            <a:r>
              <a:rPr sz="1800">
                <a:solidFill>
                  <a:srgbClr val="1A2332"/>
                </a:solidFill>
                <a:latin typeface="Calibri"/>
              </a:rPr>
              <a:t>• Comment assister étudiants et techniciens grâce à un chatbot intelligent ?</a:t>
            </a:r>
          </a:p>
          <a:p>
            <a:pPr algn="l">
              <a:lnSpc>
                <a:spcPct val="130000"/>
              </a:lnSpc>
            </a:pPr>
            <a:r>
              <a:rPr sz="1800">
                <a:solidFill>
                  <a:srgbClr val="1A2332"/>
                </a:solidFill>
                <a:latin typeface="Calibri"/>
              </a:rPr>
              <a:t>• Comment fiabiliser le suivi (statuts, alertes de retard, historique) ?</a:t>
            </a:r>
          </a:p>
        </p:txBody>
      </p:sp>
      <p:sp>
        <p:nvSpPr>
          <p:cNvPr id="9" name="Rectangle 8"/>
          <p:cNvSpPr/>
          <p:nvPr/>
        </p:nvSpPr>
        <p:spPr>
          <a:xfrm>
            <a:off x="0" y="6400800"/>
            <a:ext cx="12191695" cy="4572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73952"/>
            <a:ext cx="7315200" cy="320040"/>
          </a:xfrm>
          <a:prstGeom prst="rect">
            <a:avLst/>
          </a:prstGeom>
          <a:noFill/>
        </p:spPr>
        <p:txBody>
          <a:bodyPr wrap="square" lIns="0" rIns="0" tIns="0" bIns="0" anchor="t">
            <a:spAutoFit/>
          </a:bodyPr>
          <a:lstStyle/>
          <a:p>
            <a:pPr algn="l"/>
            <a:r>
              <a:rPr sz="1000" b="0">
                <a:solidFill>
                  <a:srgbClr val="6C757D"/>
                </a:solidFill>
                <a:latin typeface="Calibri"/>
              </a:rPr>
              <a:t>Hanne &amp; Kounta — Gestion Emprunt Matériel Topographique — UFR SI UIDT</a:t>
            </a:r>
          </a:p>
        </p:txBody>
      </p:sp>
      <p:sp>
        <p:nvSpPr>
          <p:cNvPr id="11" name="TextBox 10"/>
          <p:cNvSpPr txBox="1"/>
          <p:nvPr/>
        </p:nvSpPr>
        <p:spPr>
          <a:xfrm>
            <a:off x="10515600" y="6473952"/>
            <a:ext cx="1371600" cy="320040"/>
          </a:xfrm>
          <a:prstGeom prst="rect">
            <a:avLst/>
          </a:prstGeom>
          <a:noFill/>
        </p:spPr>
        <p:txBody>
          <a:bodyPr wrap="square" lIns="0" rIns="0" tIns="0" bIns="0" anchor="t">
            <a:spAutoFit/>
          </a:bodyPr>
          <a:lstStyle/>
          <a:p>
            <a:pPr algn="r"/>
            <a:r>
              <a:rPr sz="1000" b="0">
                <a:solidFill>
                  <a:srgbClr val="6C757D"/>
                </a:solidFill>
                <a:latin typeface="Calibri"/>
              </a:rPr>
              <a:t>4 / 22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10515600" cy="457200"/>
          </a:xfrm>
          <a:prstGeom prst="rect">
            <a:avLst/>
          </a:prstGeom>
          <a:noFill/>
        </p:spPr>
        <p:txBody>
          <a:bodyPr wrap="square" lIns="0" rIns="0" tIns="0" bIns="0" anchor="t">
            <a:spAutoFit/>
          </a:bodyPr>
          <a:lstStyle/>
          <a:p>
            <a:pPr algn="l"/>
            <a:r>
              <a:rPr sz="2400" b="1">
                <a:solidFill>
                  <a:srgbClr val="FFFFFF"/>
                </a:solidFill>
                <a:latin typeface="Calibri"/>
              </a:rPr>
              <a:t>2. Objectifs</a:t>
            </a:r>
          </a:p>
        </p:txBody>
      </p:sp>
      <p:sp>
        <p:nvSpPr>
          <p:cNvPr id="4" name="TextBox 3"/>
          <p:cNvSpPr txBox="1"/>
          <p:nvPr/>
        </p:nvSpPr>
        <p:spPr>
          <a:xfrm>
            <a:off x="10515600" y="228600"/>
            <a:ext cx="1371600" cy="457200"/>
          </a:xfrm>
          <a:prstGeom prst="rect">
            <a:avLst/>
          </a:prstGeom>
          <a:noFill/>
        </p:spPr>
        <p:txBody>
          <a:bodyPr wrap="square" lIns="0" rIns="0" tIns="0" bIns="0" anchor="t">
            <a:spAutoFit/>
          </a:bodyPr>
          <a:lstStyle/>
          <a:p>
            <a:pPr algn="r"/>
            <a:r>
              <a:rPr sz="1200" b="0">
                <a:solidFill>
                  <a:srgbClr val="FFFFFF"/>
                </a:solidFill>
                <a:latin typeface="Calibri"/>
              </a:rPr>
              <a:t>5/22</a:t>
            </a:r>
          </a:p>
        </p:txBody>
      </p:sp>
      <p:sp>
        <p:nvSpPr>
          <p:cNvPr id="5" name="TextBox 4"/>
          <p:cNvSpPr txBox="1"/>
          <p:nvPr/>
        </p:nvSpPr>
        <p:spPr>
          <a:xfrm>
            <a:off x="640080" y="1188720"/>
            <a:ext cx="5029200" cy="457200"/>
          </a:xfrm>
          <a:prstGeom prst="rect">
            <a:avLst/>
          </a:prstGeom>
          <a:noFill/>
        </p:spPr>
        <p:txBody>
          <a:bodyPr wrap="square" lIns="0" rIns="0" tIns="0" bIns="0" anchor="t">
            <a:spAutoFit/>
          </a:bodyPr>
          <a:lstStyle/>
          <a:p>
            <a:pPr algn="l"/>
            <a:r>
              <a:rPr sz="2000" b="1">
                <a:solidFill>
                  <a:srgbClr val="0D6EFD"/>
                </a:solidFill>
                <a:latin typeface="Calibri"/>
              </a:rPr>
              <a:t>Objectif général</a:t>
            </a:r>
          </a:p>
        </p:txBody>
      </p:sp>
      <p:sp>
        <p:nvSpPr>
          <p:cNvPr id="6" name="Rectangle 5"/>
          <p:cNvSpPr/>
          <p:nvPr/>
        </p:nvSpPr>
        <p:spPr>
          <a:xfrm>
            <a:off x="640080" y="1691640"/>
            <a:ext cx="5029200" cy="22860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28800"/>
            <a:ext cx="4663440" cy="2011680"/>
          </a:xfrm>
          <a:prstGeom prst="rect">
            <a:avLst/>
          </a:prstGeom>
          <a:noFill/>
        </p:spPr>
        <p:txBody>
          <a:bodyPr wrap="square" lIns="0" rIns="0" tIns="0" bIns="0" anchor="t">
            <a:spAutoFit/>
          </a:bodyPr>
          <a:lstStyle/>
          <a:p>
            <a:pPr algn="l"/>
            <a:r>
              <a:rPr sz="1500" b="0">
                <a:solidFill>
                  <a:srgbClr val="1A2332"/>
                </a:solidFill>
                <a:latin typeface="Calibri"/>
              </a:rPr>
              <a:t>Concevoir une plateforme web complète permettant aux étudiants de réserver le matériel topographique en ligne, et aux techniciens de gérer le parc avec assistance d'une IA conversationnelle.</a:t>
            </a:r>
          </a:p>
        </p:txBody>
      </p:sp>
      <p:sp>
        <p:nvSpPr>
          <p:cNvPr id="8" name="TextBox 7"/>
          <p:cNvSpPr txBox="1"/>
          <p:nvPr/>
        </p:nvSpPr>
        <p:spPr>
          <a:xfrm>
            <a:off x="6400800" y="1188720"/>
            <a:ext cx="5029200" cy="457200"/>
          </a:xfrm>
          <a:prstGeom prst="rect">
            <a:avLst/>
          </a:prstGeom>
          <a:noFill/>
        </p:spPr>
        <p:txBody>
          <a:bodyPr wrap="square" lIns="0" rIns="0" tIns="0" bIns="0" anchor="t">
            <a:spAutoFit/>
          </a:bodyPr>
          <a:lstStyle/>
          <a:p>
            <a:pPr algn="l"/>
            <a:r>
              <a:rPr sz="2000" b="1">
                <a:solidFill>
                  <a:srgbClr val="0D6EFD"/>
                </a:solidFill>
                <a:latin typeface="Calibri"/>
              </a:rPr>
              <a:t>Objectifs spécifiques</a:t>
            </a:r>
          </a:p>
        </p:txBody>
      </p:sp>
      <p:sp>
        <p:nvSpPr>
          <p:cNvPr id="9" name="TextBox 8"/>
          <p:cNvSpPr txBox="1"/>
          <p:nvPr/>
        </p:nvSpPr>
        <p:spPr>
          <a:xfrm>
            <a:off x="6400800" y="1691640"/>
            <a:ext cx="5303520" cy="4572000"/>
          </a:xfrm>
          <a:prstGeom prst="rect">
            <a:avLst/>
          </a:prstGeom>
          <a:noFill/>
        </p:spPr>
        <p:txBody>
          <a:bodyPr wrap="square">
            <a:spAutoFit/>
          </a:bodyPr>
          <a:lstStyle/>
          <a:p>
            <a:pPr algn="l">
              <a:lnSpc>
                <a:spcPct val="130000"/>
              </a:lnSpc>
            </a:pPr>
            <a:r>
              <a:rPr sz="1500">
                <a:solidFill>
                  <a:srgbClr val="1A2332"/>
                </a:solidFill>
                <a:latin typeface="Calibri"/>
              </a:rPr>
              <a:t>• Catalogue numérique du matériel</a:t>
            </a:r>
          </a:p>
          <a:p>
            <a:pPr algn="l">
              <a:lnSpc>
                <a:spcPct val="130000"/>
              </a:lnSpc>
            </a:pPr>
            <a:r>
              <a:rPr sz="1500">
                <a:solidFill>
                  <a:srgbClr val="1A2332"/>
                </a:solidFill>
                <a:latin typeface="Calibri"/>
              </a:rPr>
              <a:t>• Workflow de demande / validation</a:t>
            </a:r>
          </a:p>
          <a:p>
            <a:pPr algn="l">
              <a:lnSpc>
                <a:spcPct val="130000"/>
              </a:lnSpc>
            </a:pPr>
            <a:r>
              <a:rPr sz="1500">
                <a:solidFill>
                  <a:srgbClr val="1A2332"/>
                </a:solidFill>
                <a:latin typeface="Calibri"/>
              </a:rPr>
              <a:t>• Suivi des restitutions + alertes</a:t>
            </a:r>
          </a:p>
          <a:p>
            <a:pPr algn="l">
              <a:lnSpc>
                <a:spcPct val="130000"/>
              </a:lnSpc>
            </a:pPr>
            <a:r>
              <a:rPr sz="1500">
                <a:solidFill>
                  <a:srgbClr val="1A2332"/>
                </a:solidFill>
                <a:latin typeface="Calibri"/>
              </a:rPr>
              <a:t>• Cartographie Leaflet des points levés</a:t>
            </a:r>
          </a:p>
          <a:p>
            <a:pPr algn="l">
              <a:lnSpc>
                <a:spcPct val="130000"/>
              </a:lnSpc>
            </a:pPr>
            <a:r>
              <a:rPr sz="1500">
                <a:solidFill>
                  <a:srgbClr val="1A2332"/>
                </a:solidFill>
                <a:latin typeface="Calibri"/>
              </a:rPr>
              <a:t>• Chatbot IA fine-tuné (Phi-3 + LoRA)</a:t>
            </a:r>
          </a:p>
          <a:p>
            <a:pPr algn="l">
              <a:lnSpc>
                <a:spcPct val="130000"/>
              </a:lnSpc>
            </a:pPr>
            <a:r>
              <a:rPr sz="1500">
                <a:solidFill>
                  <a:srgbClr val="1A2332"/>
                </a:solidFill>
                <a:latin typeface="Calibri"/>
              </a:rPr>
              <a:t>• Dashboard administrateur statistiques</a:t>
            </a:r>
          </a:p>
        </p:txBody>
      </p:sp>
      <p:sp>
        <p:nvSpPr>
          <p:cNvPr id="10" name="Rectangle 9"/>
          <p:cNvSpPr/>
          <p:nvPr/>
        </p:nvSpPr>
        <p:spPr>
          <a:xfrm>
            <a:off x="0" y="6400800"/>
            <a:ext cx="12191695" cy="4572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6473952"/>
            <a:ext cx="7315200" cy="320040"/>
          </a:xfrm>
          <a:prstGeom prst="rect">
            <a:avLst/>
          </a:prstGeom>
          <a:noFill/>
        </p:spPr>
        <p:txBody>
          <a:bodyPr wrap="square" lIns="0" rIns="0" tIns="0" bIns="0" anchor="t">
            <a:spAutoFit/>
          </a:bodyPr>
          <a:lstStyle/>
          <a:p>
            <a:pPr algn="l"/>
            <a:r>
              <a:rPr sz="1000" b="0">
                <a:solidFill>
                  <a:srgbClr val="6C757D"/>
                </a:solidFill>
                <a:latin typeface="Calibri"/>
              </a:rPr>
              <a:t>Hanne &amp; Kounta — Gestion Emprunt Matériel Topographique — UFR SI UIDT</a:t>
            </a:r>
          </a:p>
        </p:txBody>
      </p:sp>
      <p:sp>
        <p:nvSpPr>
          <p:cNvPr id="12" name="TextBox 11"/>
          <p:cNvSpPr txBox="1"/>
          <p:nvPr/>
        </p:nvSpPr>
        <p:spPr>
          <a:xfrm>
            <a:off x="10515600" y="6473952"/>
            <a:ext cx="1371600" cy="320040"/>
          </a:xfrm>
          <a:prstGeom prst="rect">
            <a:avLst/>
          </a:prstGeom>
          <a:noFill/>
        </p:spPr>
        <p:txBody>
          <a:bodyPr wrap="square" lIns="0" rIns="0" tIns="0" bIns="0" anchor="t">
            <a:spAutoFit/>
          </a:bodyPr>
          <a:lstStyle/>
          <a:p>
            <a:pPr algn="r"/>
            <a:r>
              <a:rPr sz="1000" b="0">
                <a:solidFill>
                  <a:srgbClr val="6C757D"/>
                </a:solidFill>
                <a:latin typeface="Calibri"/>
              </a:rPr>
              <a:t>5 / 22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10515600" cy="457200"/>
          </a:xfrm>
          <a:prstGeom prst="rect">
            <a:avLst/>
          </a:prstGeom>
          <a:noFill/>
        </p:spPr>
        <p:txBody>
          <a:bodyPr wrap="square" lIns="0" rIns="0" tIns="0" bIns="0" anchor="t">
            <a:spAutoFit/>
          </a:bodyPr>
          <a:lstStyle/>
          <a:p>
            <a:pPr algn="l"/>
            <a:r>
              <a:rPr sz="2400" b="1">
                <a:solidFill>
                  <a:srgbClr val="FFFFFF"/>
                </a:solidFill>
                <a:latin typeface="Calibri"/>
              </a:rPr>
              <a:t>3. Architecture technique</a:t>
            </a:r>
          </a:p>
        </p:txBody>
      </p:sp>
      <p:sp>
        <p:nvSpPr>
          <p:cNvPr id="4" name="TextBox 3"/>
          <p:cNvSpPr txBox="1"/>
          <p:nvPr/>
        </p:nvSpPr>
        <p:spPr>
          <a:xfrm>
            <a:off x="10515600" y="228600"/>
            <a:ext cx="1371600" cy="457200"/>
          </a:xfrm>
          <a:prstGeom prst="rect">
            <a:avLst/>
          </a:prstGeom>
          <a:noFill/>
        </p:spPr>
        <p:txBody>
          <a:bodyPr wrap="square" lIns="0" rIns="0" tIns="0" bIns="0" anchor="t">
            <a:spAutoFit/>
          </a:bodyPr>
          <a:lstStyle/>
          <a:p>
            <a:pPr algn="r"/>
            <a:r>
              <a:rPr sz="1200" b="0">
                <a:solidFill>
                  <a:srgbClr val="FFFFFF"/>
                </a:solidFill>
                <a:latin typeface="Calibri"/>
              </a:rPr>
              <a:t>6/22</a:t>
            </a:r>
          </a:p>
        </p:txBody>
      </p:sp>
      <p:sp>
        <p:nvSpPr>
          <p:cNvPr id="5" name="Rectangle 4"/>
          <p:cNvSpPr/>
          <p:nvPr/>
        </p:nvSpPr>
        <p:spPr>
          <a:xfrm>
            <a:off x="640080" y="2011680"/>
            <a:ext cx="3383280" cy="1371600"/>
          </a:xfrm>
          <a:prstGeom prst="rect">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011680"/>
            <a:ext cx="3383280" cy="1371600"/>
          </a:xfrm>
          <a:prstGeom prst="rect">
            <a:avLst/>
          </a:prstGeom>
          <a:noFill/>
        </p:spPr>
        <p:txBody>
          <a:bodyPr wrap="square" lIns="0" rIns="0" tIns="0" bIns="0" anchor="ctr">
            <a:spAutoFit/>
          </a:bodyPr>
          <a:lstStyle/>
          <a:p>
            <a:pPr algn="ctr"/>
            <a:r>
              <a:rPr sz="1500" b="1">
                <a:solidFill>
                  <a:srgbClr val="FFFFFF"/>
                </a:solidFill>
                <a:latin typeface="Calibri"/>
              </a:rPr>
              <a:t>FRONTEND
Django Templates
Bootstrap 5
Leaflet.js</a:t>
            </a:r>
          </a:p>
        </p:txBody>
      </p:sp>
      <p:sp>
        <p:nvSpPr>
          <p:cNvPr id="7" name="Rectangle 6"/>
          <p:cNvSpPr/>
          <p:nvPr/>
        </p:nvSpPr>
        <p:spPr>
          <a:xfrm>
            <a:off x="4389120" y="2011680"/>
            <a:ext cx="3383280" cy="1371600"/>
          </a:xfrm>
          <a:prstGeom prst="rect">
            <a:avLst/>
          </a:prstGeom>
          <a:solidFill>
            <a:srgbClr val="0A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0" y="2011680"/>
            <a:ext cx="3383280" cy="1371600"/>
          </a:xfrm>
          <a:prstGeom prst="rect">
            <a:avLst/>
          </a:prstGeom>
          <a:noFill/>
        </p:spPr>
        <p:txBody>
          <a:bodyPr wrap="square" lIns="0" rIns="0" tIns="0" bIns="0" anchor="ctr">
            <a:spAutoFit/>
          </a:bodyPr>
          <a:lstStyle/>
          <a:p>
            <a:pPr algn="ctr"/>
            <a:r>
              <a:rPr sz="1500" b="1">
                <a:solidFill>
                  <a:srgbClr val="FFFFFF"/>
                </a:solidFill>
                <a:latin typeface="Calibri"/>
              </a:rPr>
              <a:t>BACKEND
Django 5 + DRF
JWT auth
SQLite</a:t>
            </a:r>
          </a:p>
        </p:txBody>
      </p:sp>
      <p:sp>
        <p:nvSpPr>
          <p:cNvPr id="9" name="Rectangle 8"/>
          <p:cNvSpPr/>
          <p:nvPr/>
        </p:nvSpPr>
        <p:spPr>
          <a:xfrm>
            <a:off x="8138160" y="2011680"/>
            <a:ext cx="3383280" cy="1371600"/>
          </a:xfrm>
          <a:prstGeom prst="rect">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38160" y="2011680"/>
            <a:ext cx="3383280" cy="1371600"/>
          </a:xfrm>
          <a:prstGeom prst="rect">
            <a:avLst/>
          </a:prstGeom>
          <a:noFill/>
        </p:spPr>
        <p:txBody>
          <a:bodyPr wrap="square" lIns="0" rIns="0" tIns="0" bIns="0" anchor="ctr">
            <a:spAutoFit/>
          </a:bodyPr>
          <a:lstStyle/>
          <a:p>
            <a:pPr algn="ctr"/>
            <a:r>
              <a:rPr sz="1500" b="1">
                <a:solidFill>
                  <a:srgbClr val="FFFFFF"/>
                </a:solidFill>
                <a:latin typeface="Calibri"/>
              </a:rPr>
              <a:t>MICROSERVICE IA
FastAPI
Phi-3-mini + LoRA
port 8001</a:t>
            </a:r>
          </a:p>
        </p:txBody>
      </p:sp>
      <p:sp>
        <p:nvSpPr>
          <p:cNvPr id="11" name="Rectangle 10"/>
          <p:cNvSpPr/>
          <p:nvPr/>
        </p:nvSpPr>
        <p:spPr>
          <a:xfrm>
            <a:off x="4023360" y="2606040"/>
            <a:ext cx="365760" cy="40000"/>
          </a:xfrm>
          <a:prstGeom prst="rect">
            <a:avLst/>
          </a:prstGeom>
          <a:solidFill>
            <a:srgbClr val="6C75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0" y="2606040"/>
            <a:ext cx="365760" cy="40000"/>
          </a:xfrm>
          <a:prstGeom prst="rect">
            <a:avLst/>
          </a:prstGeom>
          <a:solidFill>
            <a:srgbClr val="6C75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89120" y="4114800"/>
            <a:ext cx="3383280" cy="822960"/>
          </a:xfrm>
          <a:prstGeom prst="rect">
            <a:avLst/>
          </a:prstGeom>
          <a:solidFill>
            <a:srgbClr val="6C75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0" y="4114800"/>
            <a:ext cx="3383280" cy="822960"/>
          </a:xfrm>
          <a:prstGeom prst="rect">
            <a:avLst/>
          </a:prstGeom>
          <a:noFill/>
        </p:spPr>
        <p:txBody>
          <a:bodyPr wrap="square" lIns="0" rIns="0" tIns="0" bIns="0" anchor="ctr">
            <a:spAutoFit/>
          </a:bodyPr>
          <a:lstStyle/>
          <a:p>
            <a:pPr algn="ctr"/>
            <a:r>
              <a:rPr sz="1300" b="1">
                <a:solidFill>
                  <a:srgbClr val="FFFFFF"/>
                </a:solidFill>
                <a:latin typeface="Calibri"/>
              </a:rPr>
              <a:t>BASE DE DONNÉES — SQLite (dev) / PostgreSQL (prod)</a:t>
            </a:r>
          </a:p>
        </p:txBody>
      </p:sp>
      <p:sp>
        <p:nvSpPr>
          <p:cNvPr id="15" name="TextBox 14"/>
          <p:cNvSpPr txBox="1"/>
          <p:nvPr/>
        </p:nvSpPr>
        <p:spPr>
          <a:xfrm>
            <a:off x="640080" y="5212080"/>
            <a:ext cx="10972800" cy="457200"/>
          </a:xfrm>
          <a:prstGeom prst="rect">
            <a:avLst/>
          </a:prstGeom>
          <a:noFill/>
        </p:spPr>
        <p:txBody>
          <a:bodyPr wrap="square" lIns="0" rIns="0" tIns="0" bIns="0" anchor="t">
            <a:spAutoFit/>
          </a:bodyPr>
          <a:lstStyle/>
          <a:p>
            <a:pPr algn="ctr"/>
            <a:r>
              <a:rPr sz="1400" b="0">
                <a:solidFill>
                  <a:srgbClr val="6C757D"/>
                </a:solidFill>
                <a:latin typeface="Calibri"/>
              </a:rPr>
              <a:t>Communication : HTTPS REST/JSON + JWT — déploiement local prévu</a:t>
            </a:r>
          </a:p>
        </p:txBody>
      </p:sp>
      <p:sp>
        <p:nvSpPr>
          <p:cNvPr id="16" name="Rectangle 15"/>
          <p:cNvSpPr/>
          <p:nvPr/>
        </p:nvSpPr>
        <p:spPr>
          <a:xfrm>
            <a:off x="0" y="6400800"/>
            <a:ext cx="12191695" cy="4572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6473952"/>
            <a:ext cx="7315200" cy="320040"/>
          </a:xfrm>
          <a:prstGeom prst="rect">
            <a:avLst/>
          </a:prstGeom>
          <a:noFill/>
        </p:spPr>
        <p:txBody>
          <a:bodyPr wrap="square" lIns="0" rIns="0" tIns="0" bIns="0" anchor="t">
            <a:spAutoFit/>
          </a:bodyPr>
          <a:lstStyle/>
          <a:p>
            <a:pPr algn="l"/>
            <a:r>
              <a:rPr sz="1000" b="0">
                <a:solidFill>
                  <a:srgbClr val="6C757D"/>
                </a:solidFill>
                <a:latin typeface="Calibri"/>
              </a:rPr>
              <a:t>Hanne &amp; Kounta — Gestion Emprunt Matériel Topographique — UFR SI UIDT</a:t>
            </a:r>
          </a:p>
        </p:txBody>
      </p:sp>
      <p:sp>
        <p:nvSpPr>
          <p:cNvPr id="18" name="TextBox 17"/>
          <p:cNvSpPr txBox="1"/>
          <p:nvPr/>
        </p:nvSpPr>
        <p:spPr>
          <a:xfrm>
            <a:off x="10515600" y="6473952"/>
            <a:ext cx="1371600" cy="320040"/>
          </a:xfrm>
          <a:prstGeom prst="rect">
            <a:avLst/>
          </a:prstGeom>
          <a:noFill/>
        </p:spPr>
        <p:txBody>
          <a:bodyPr wrap="square" lIns="0" rIns="0" tIns="0" bIns="0" anchor="t">
            <a:spAutoFit/>
          </a:bodyPr>
          <a:lstStyle/>
          <a:p>
            <a:pPr algn="r"/>
            <a:r>
              <a:rPr sz="1000" b="0">
                <a:solidFill>
                  <a:srgbClr val="6C757D"/>
                </a:solidFill>
                <a:latin typeface="Calibri"/>
              </a:rPr>
              <a:t>6 / 22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10515600" cy="457200"/>
          </a:xfrm>
          <a:prstGeom prst="rect">
            <a:avLst/>
          </a:prstGeom>
          <a:noFill/>
        </p:spPr>
        <p:txBody>
          <a:bodyPr wrap="square" lIns="0" rIns="0" tIns="0" bIns="0" anchor="t">
            <a:spAutoFit/>
          </a:bodyPr>
          <a:lstStyle/>
          <a:p>
            <a:pPr algn="l"/>
            <a:r>
              <a:rPr sz="2400" b="1">
                <a:solidFill>
                  <a:srgbClr val="FFFFFF"/>
                </a:solidFill>
                <a:latin typeface="Calibri"/>
              </a:rPr>
              <a:t>4. Modélisation — Diagramme de classes</a:t>
            </a:r>
          </a:p>
        </p:txBody>
      </p:sp>
      <p:sp>
        <p:nvSpPr>
          <p:cNvPr id="4" name="TextBox 3"/>
          <p:cNvSpPr txBox="1"/>
          <p:nvPr/>
        </p:nvSpPr>
        <p:spPr>
          <a:xfrm>
            <a:off x="10515600" y="228600"/>
            <a:ext cx="1371600" cy="457200"/>
          </a:xfrm>
          <a:prstGeom prst="rect">
            <a:avLst/>
          </a:prstGeom>
          <a:noFill/>
        </p:spPr>
        <p:txBody>
          <a:bodyPr wrap="square" lIns="0" rIns="0" tIns="0" bIns="0" anchor="t">
            <a:spAutoFit/>
          </a:bodyPr>
          <a:lstStyle/>
          <a:p>
            <a:pPr algn="r"/>
            <a:r>
              <a:rPr sz="1200" b="0">
                <a:solidFill>
                  <a:srgbClr val="FFFFFF"/>
                </a:solidFill>
                <a:latin typeface="Calibri"/>
              </a:rPr>
              <a:t>7/22</a:t>
            </a:r>
          </a:p>
        </p:txBody>
      </p:sp>
      <p:sp>
        <p:nvSpPr>
          <p:cNvPr id="5" name="TextBox 4"/>
          <p:cNvSpPr txBox="1"/>
          <p:nvPr/>
        </p:nvSpPr>
        <p:spPr>
          <a:xfrm>
            <a:off x="640080" y="1188720"/>
            <a:ext cx="10972800" cy="457200"/>
          </a:xfrm>
          <a:prstGeom prst="rect">
            <a:avLst/>
          </a:prstGeom>
          <a:noFill/>
        </p:spPr>
        <p:txBody>
          <a:bodyPr wrap="square" lIns="0" rIns="0" tIns="0" bIns="0" anchor="t">
            <a:spAutoFit/>
          </a:bodyPr>
          <a:lstStyle/>
          <a:p>
            <a:pPr algn="l"/>
            <a:r>
              <a:rPr sz="1800" b="1">
                <a:solidFill>
                  <a:srgbClr val="0D6EFD"/>
                </a:solidFill>
                <a:latin typeface="Calibri"/>
              </a:rPr>
              <a:t>5 entités principales :</a:t>
            </a:r>
          </a:p>
        </p:txBody>
      </p:sp>
      <p:sp>
        <p:nvSpPr>
          <p:cNvPr id="6" name="Rectangle 5"/>
          <p:cNvSpPr/>
          <p:nvPr/>
        </p:nvSpPr>
        <p:spPr>
          <a:xfrm>
            <a:off x="457200" y="1828800"/>
            <a:ext cx="2194560" cy="548640"/>
          </a:xfrm>
          <a:prstGeom prst="rect">
            <a:avLst/>
          </a:prstGeom>
          <a:solidFill>
            <a:srgbClr val="0A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828800"/>
            <a:ext cx="2194560" cy="548640"/>
          </a:xfrm>
          <a:prstGeom prst="rect">
            <a:avLst/>
          </a:prstGeom>
          <a:noFill/>
        </p:spPr>
        <p:txBody>
          <a:bodyPr wrap="square" lIns="0" rIns="0" tIns="0" bIns="0" anchor="ctr">
            <a:spAutoFit/>
          </a:bodyPr>
          <a:lstStyle/>
          <a:p>
            <a:pPr algn="ctr"/>
            <a:r>
              <a:rPr sz="1500" b="1">
                <a:solidFill>
                  <a:srgbClr val="FFFFFF"/>
                </a:solidFill>
                <a:latin typeface="Calibri"/>
              </a:rPr>
              <a:t>Utilisateur</a:t>
            </a:r>
          </a:p>
        </p:txBody>
      </p:sp>
      <p:sp>
        <p:nvSpPr>
          <p:cNvPr id="8" name="Rectangle 7"/>
          <p:cNvSpPr/>
          <p:nvPr/>
        </p:nvSpPr>
        <p:spPr>
          <a:xfrm>
            <a:off x="457200" y="2377440"/>
            <a:ext cx="2194560" cy="20116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468880"/>
            <a:ext cx="2194560" cy="1828800"/>
          </a:xfrm>
          <a:prstGeom prst="rect">
            <a:avLst/>
          </a:prstGeom>
          <a:noFill/>
        </p:spPr>
        <p:txBody>
          <a:bodyPr wrap="square" lIns="0" rIns="0" tIns="0" bIns="0" anchor="t">
            <a:spAutoFit/>
          </a:bodyPr>
          <a:lstStyle/>
          <a:p>
            <a:pPr algn="ctr"/>
            <a:r>
              <a:rPr sz="1100" b="0">
                <a:solidFill>
                  <a:srgbClr val="1A2332"/>
                </a:solidFill>
                <a:latin typeface="Calibri"/>
              </a:rPr>
              <a:t>id, username, email,
role, telephone
(AbstractUser)</a:t>
            </a:r>
          </a:p>
        </p:txBody>
      </p:sp>
      <p:sp>
        <p:nvSpPr>
          <p:cNvPr id="10" name="Rectangle 9"/>
          <p:cNvSpPr/>
          <p:nvPr/>
        </p:nvSpPr>
        <p:spPr>
          <a:xfrm>
            <a:off x="2743200" y="1828800"/>
            <a:ext cx="2194560" cy="548640"/>
          </a:xfrm>
          <a:prstGeom prst="rect">
            <a:avLst/>
          </a:prstGeom>
          <a:solidFill>
            <a:srgbClr val="0A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0" y="1828800"/>
            <a:ext cx="2194560" cy="548640"/>
          </a:xfrm>
          <a:prstGeom prst="rect">
            <a:avLst/>
          </a:prstGeom>
          <a:noFill/>
        </p:spPr>
        <p:txBody>
          <a:bodyPr wrap="square" lIns="0" rIns="0" tIns="0" bIns="0" anchor="ctr">
            <a:spAutoFit/>
          </a:bodyPr>
          <a:lstStyle/>
          <a:p>
            <a:pPr algn="ctr"/>
            <a:r>
              <a:rPr sz="1500" b="1">
                <a:solidFill>
                  <a:srgbClr val="FFFFFF"/>
                </a:solidFill>
                <a:latin typeface="Calibri"/>
              </a:rPr>
              <a:t>Materiel</a:t>
            </a:r>
          </a:p>
        </p:txBody>
      </p:sp>
      <p:sp>
        <p:nvSpPr>
          <p:cNvPr id="12" name="Rectangle 11"/>
          <p:cNvSpPr/>
          <p:nvPr/>
        </p:nvSpPr>
        <p:spPr>
          <a:xfrm>
            <a:off x="2743200" y="2377440"/>
            <a:ext cx="2194560" cy="20116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0" y="2468880"/>
            <a:ext cx="2194560" cy="1828800"/>
          </a:xfrm>
          <a:prstGeom prst="rect">
            <a:avLst/>
          </a:prstGeom>
          <a:noFill/>
        </p:spPr>
        <p:txBody>
          <a:bodyPr wrap="square" lIns="0" rIns="0" tIns="0" bIns="0" anchor="t">
            <a:spAutoFit/>
          </a:bodyPr>
          <a:lstStyle/>
          <a:p>
            <a:pPr algn="ctr"/>
            <a:r>
              <a:rPr sz="1100" b="0">
                <a:solidFill>
                  <a:srgbClr val="1A2332"/>
                </a:solidFill>
                <a:latin typeface="Calibri"/>
              </a:rPr>
              <a:t>id, code, nom, marque,
type, etat, photo,
localisation</a:t>
            </a:r>
          </a:p>
        </p:txBody>
      </p:sp>
      <p:sp>
        <p:nvSpPr>
          <p:cNvPr id="14" name="Rectangle 13"/>
          <p:cNvSpPr/>
          <p:nvPr/>
        </p:nvSpPr>
        <p:spPr>
          <a:xfrm>
            <a:off x="5029200" y="1828800"/>
            <a:ext cx="2194560" cy="548640"/>
          </a:xfrm>
          <a:prstGeom prst="rect">
            <a:avLst/>
          </a:prstGeom>
          <a:solidFill>
            <a:srgbClr val="0A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0" y="1828800"/>
            <a:ext cx="2194560" cy="548640"/>
          </a:xfrm>
          <a:prstGeom prst="rect">
            <a:avLst/>
          </a:prstGeom>
          <a:noFill/>
        </p:spPr>
        <p:txBody>
          <a:bodyPr wrap="square" lIns="0" rIns="0" tIns="0" bIns="0" anchor="ctr">
            <a:spAutoFit/>
          </a:bodyPr>
          <a:lstStyle/>
          <a:p>
            <a:pPr algn="ctr"/>
            <a:r>
              <a:rPr sz="1500" b="1">
                <a:solidFill>
                  <a:srgbClr val="FFFFFF"/>
                </a:solidFill>
                <a:latin typeface="Calibri"/>
              </a:rPr>
              <a:t>Demande</a:t>
            </a:r>
          </a:p>
        </p:txBody>
      </p:sp>
      <p:sp>
        <p:nvSpPr>
          <p:cNvPr id="16" name="Rectangle 15"/>
          <p:cNvSpPr/>
          <p:nvPr/>
        </p:nvSpPr>
        <p:spPr>
          <a:xfrm>
            <a:off x="5029200" y="2377440"/>
            <a:ext cx="2194560" cy="20116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0" y="2468880"/>
            <a:ext cx="2194560" cy="1828800"/>
          </a:xfrm>
          <a:prstGeom prst="rect">
            <a:avLst/>
          </a:prstGeom>
          <a:noFill/>
        </p:spPr>
        <p:txBody>
          <a:bodyPr wrap="square" lIns="0" rIns="0" tIns="0" bIns="0" anchor="t">
            <a:spAutoFit/>
          </a:bodyPr>
          <a:lstStyle/>
          <a:p>
            <a:pPr algn="ctr"/>
            <a:r>
              <a:rPr sz="1100" b="0">
                <a:solidFill>
                  <a:srgbClr val="1A2332"/>
                </a:solidFill>
                <a:latin typeface="Calibri"/>
              </a:rPr>
              <a:t>id, etudiant, materiel,
date_debut, date_fin,
motif, statut</a:t>
            </a:r>
          </a:p>
        </p:txBody>
      </p:sp>
      <p:sp>
        <p:nvSpPr>
          <p:cNvPr id="18" name="Rectangle 17"/>
          <p:cNvSpPr/>
          <p:nvPr/>
        </p:nvSpPr>
        <p:spPr>
          <a:xfrm>
            <a:off x="7315200" y="1828800"/>
            <a:ext cx="2194560" cy="548640"/>
          </a:xfrm>
          <a:prstGeom prst="rect">
            <a:avLst/>
          </a:prstGeom>
          <a:solidFill>
            <a:srgbClr val="0A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0" y="1828800"/>
            <a:ext cx="2194560" cy="548640"/>
          </a:xfrm>
          <a:prstGeom prst="rect">
            <a:avLst/>
          </a:prstGeom>
          <a:noFill/>
        </p:spPr>
        <p:txBody>
          <a:bodyPr wrap="square" lIns="0" rIns="0" tIns="0" bIns="0" anchor="ctr">
            <a:spAutoFit/>
          </a:bodyPr>
          <a:lstStyle/>
          <a:p>
            <a:pPr algn="ctr"/>
            <a:r>
              <a:rPr sz="1500" b="1">
                <a:solidFill>
                  <a:srgbClr val="FFFFFF"/>
                </a:solidFill>
                <a:latin typeface="Calibri"/>
              </a:rPr>
              <a:t>Restitution</a:t>
            </a:r>
          </a:p>
        </p:txBody>
      </p:sp>
      <p:sp>
        <p:nvSpPr>
          <p:cNvPr id="20" name="Rectangle 19"/>
          <p:cNvSpPr/>
          <p:nvPr/>
        </p:nvSpPr>
        <p:spPr>
          <a:xfrm>
            <a:off x="7315200" y="2377440"/>
            <a:ext cx="2194560" cy="20116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0" y="2468880"/>
            <a:ext cx="2194560" cy="1828800"/>
          </a:xfrm>
          <a:prstGeom prst="rect">
            <a:avLst/>
          </a:prstGeom>
          <a:noFill/>
        </p:spPr>
        <p:txBody>
          <a:bodyPr wrap="square" lIns="0" rIns="0" tIns="0" bIns="0" anchor="t">
            <a:spAutoFit/>
          </a:bodyPr>
          <a:lstStyle/>
          <a:p>
            <a:pPr algn="ctr"/>
            <a:r>
              <a:rPr sz="1100" b="0">
                <a:solidFill>
                  <a:srgbClr val="1A2332"/>
                </a:solidFill>
                <a:latin typeface="Calibri"/>
              </a:rPr>
              <a:t>id, demande, date_retour,
etat_retour, observations</a:t>
            </a:r>
          </a:p>
        </p:txBody>
      </p:sp>
      <p:sp>
        <p:nvSpPr>
          <p:cNvPr id="22" name="Rectangle 21"/>
          <p:cNvSpPr/>
          <p:nvPr/>
        </p:nvSpPr>
        <p:spPr>
          <a:xfrm>
            <a:off x="9601200" y="1828800"/>
            <a:ext cx="2194560" cy="548640"/>
          </a:xfrm>
          <a:prstGeom prst="rect">
            <a:avLst/>
          </a:prstGeom>
          <a:solidFill>
            <a:srgbClr val="0A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01200" y="1828800"/>
            <a:ext cx="2194560" cy="548640"/>
          </a:xfrm>
          <a:prstGeom prst="rect">
            <a:avLst/>
          </a:prstGeom>
          <a:noFill/>
        </p:spPr>
        <p:txBody>
          <a:bodyPr wrap="square" lIns="0" rIns="0" tIns="0" bIns="0" anchor="ctr">
            <a:spAutoFit/>
          </a:bodyPr>
          <a:lstStyle/>
          <a:p>
            <a:pPr algn="ctr"/>
            <a:r>
              <a:rPr sz="1500" b="1">
                <a:solidFill>
                  <a:srgbClr val="FFFFFF"/>
                </a:solidFill>
                <a:latin typeface="Calibri"/>
              </a:rPr>
              <a:t>PointGPS</a:t>
            </a:r>
          </a:p>
        </p:txBody>
      </p:sp>
      <p:sp>
        <p:nvSpPr>
          <p:cNvPr id="24" name="Rectangle 23"/>
          <p:cNvSpPr/>
          <p:nvPr/>
        </p:nvSpPr>
        <p:spPr>
          <a:xfrm>
            <a:off x="9601200" y="2377440"/>
            <a:ext cx="2194560" cy="20116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01200" y="2468880"/>
            <a:ext cx="2194560" cy="1828800"/>
          </a:xfrm>
          <a:prstGeom prst="rect">
            <a:avLst/>
          </a:prstGeom>
          <a:noFill/>
        </p:spPr>
        <p:txBody>
          <a:bodyPr wrap="square" lIns="0" rIns="0" tIns="0" bIns="0" anchor="t">
            <a:spAutoFit/>
          </a:bodyPr>
          <a:lstStyle/>
          <a:p>
            <a:pPr algn="ctr"/>
            <a:r>
              <a:rPr sz="1100" b="0">
                <a:solidFill>
                  <a:srgbClr val="1A2332"/>
                </a:solidFill>
                <a:latin typeface="Calibri"/>
              </a:rPr>
              <a:t>id, demande, latitude,
longitude, altitude,
horodatage</a:t>
            </a:r>
          </a:p>
        </p:txBody>
      </p:sp>
      <p:sp>
        <p:nvSpPr>
          <p:cNvPr id="26" name="TextBox 25"/>
          <p:cNvSpPr txBox="1"/>
          <p:nvPr/>
        </p:nvSpPr>
        <p:spPr>
          <a:xfrm>
            <a:off x="640080" y="4754880"/>
            <a:ext cx="10972800" cy="1371600"/>
          </a:xfrm>
          <a:prstGeom prst="rect">
            <a:avLst/>
          </a:prstGeom>
          <a:noFill/>
        </p:spPr>
        <p:txBody>
          <a:bodyPr wrap="square" lIns="0" rIns="0" tIns="0" bIns="0" anchor="t">
            <a:spAutoFit/>
          </a:bodyPr>
          <a:lstStyle/>
          <a:p>
            <a:pPr algn="ctr"/>
            <a:r>
              <a:rPr sz="1400" b="0">
                <a:solidFill>
                  <a:srgbClr val="6C757D"/>
                </a:solidFill>
                <a:latin typeface="Calibri"/>
              </a:rPr>
              <a:t>Relations : Utilisateur 1—N Demande / Materiel 1—N Demande /
Demande 1—1 Restitution / Demande 1—N PointGPS</a:t>
            </a:r>
          </a:p>
        </p:txBody>
      </p:sp>
      <p:sp>
        <p:nvSpPr>
          <p:cNvPr id="27" name="Rectangle 26"/>
          <p:cNvSpPr/>
          <p:nvPr/>
        </p:nvSpPr>
        <p:spPr>
          <a:xfrm>
            <a:off x="0" y="6400800"/>
            <a:ext cx="12191695" cy="4572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5760" y="6473952"/>
            <a:ext cx="7315200" cy="320040"/>
          </a:xfrm>
          <a:prstGeom prst="rect">
            <a:avLst/>
          </a:prstGeom>
          <a:noFill/>
        </p:spPr>
        <p:txBody>
          <a:bodyPr wrap="square" lIns="0" rIns="0" tIns="0" bIns="0" anchor="t">
            <a:spAutoFit/>
          </a:bodyPr>
          <a:lstStyle/>
          <a:p>
            <a:pPr algn="l"/>
            <a:r>
              <a:rPr sz="1000" b="0">
                <a:solidFill>
                  <a:srgbClr val="6C757D"/>
                </a:solidFill>
                <a:latin typeface="Calibri"/>
              </a:rPr>
              <a:t>Hanne &amp; Kounta — Gestion Emprunt Matériel Topographique — UFR SI UIDT</a:t>
            </a:r>
          </a:p>
        </p:txBody>
      </p:sp>
      <p:sp>
        <p:nvSpPr>
          <p:cNvPr id="29" name="TextBox 28"/>
          <p:cNvSpPr txBox="1"/>
          <p:nvPr/>
        </p:nvSpPr>
        <p:spPr>
          <a:xfrm>
            <a:off x="10515600" y="6473952"/>
            <a:ext cx="1371600" cy="320040"/>
          </a:xfrm>
          <a:prstGeom prst="rect">
            <a:avLst/>
          </a:prstGeom>
          <a:noFill/>
        </p:spPr>
        <p:txBody>
          <a:bodyPr wrap="square" lIns="0" rIns="0" tIns="0" bIns="0" anchor="t">
            <a:spAutoFit/>
          </a:bodyPr>
          <a:lstStyle/>
          <a:p>
            <a:pPr algn="r"/>
            <a:r>
              <a:rPr sz="1000" b="0">
                <a:solidFill>
                  <a:srgbClr val="6C757D"/>
                </a:solidFill>
                <a:latin typeface="Calibri"/>
              </a:rPr>
              <a:t>7 / 22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10515600" cy="457200"/>
          </a:xfrm>
          <a:prstGeom prst="rect">
            <a:avLst/>
          </a:prstGeom>
          <a:noFill/>
        </p:spPr>
        <p:txBody>
          <a:bodyPr wrap="square" lIns="0" rIns="0" tIns="0" bIns="0" anchor="t">
            <a:spAutoFit/>
          </a:bodyPr>
          <a:lstStyle/>
          <a:p>
            <a:pPr algn="l"/>
            <a:r>
              <a:rPr sz="2400" b="1">
                <a:solidFill>
                  <a:srgbClr val="FFFFFF"/>
                </a:solidFill>
                <a:latin typeface="Calibri"/>
              </a:rPr>
              <a:t>4. Cas d'usage principaux</a:t>
            </a:r>
          </a:p>
        </p:txBody>
      </p:sp>
      <p:sp>
        <p:nvSpPr>
          <p:cNvPr id="4" name="TextBox 3"/>
          <p:cNvSpPr txBox="1"/>
          <p:nvPr/>
        </p:nvSpPr>
        <p:spPr>
          <a:xfrm>
            <a:off x="10515600" y="228600"/>
            <a:ext cx="1371600" cy="457200"/>
          </a:xfrm>
          <a:prstGeom prst="rect">
            <a:avLst/>
          </a:prstGeom>
          <a:noFill/>
        </p:spPr>
        <p:txBody>
          <a:bodyPr wrap="square" lIns="0" rIns="0" tIns="0" bIns="0" anchor="t">
            <a:spAutoFit/>
          </a:bodyPr>
          <a:lstStyle/>
          <a:p>
            <a:pPr algn="r"/>
            <a:r>
              <a:rPr sz="1200" b="0">
                <a:solidFill>
                  <a:srgbClr val="FFFFFF"/>
                </a:solidFill>
                <a:latin typeface="Calibri"/>
              </a:rPr>
              <a:t>8/22</a:t>
            </a:r>
          </a:p>
        </p:txBody>
      </p:sp>
      <p:sp>
        <p:nvSpPr>
          <p:cNvPr id="5" name="Rectangle 4"/>
          <p:cNvSpPr/>
          <p:nvPr/>
        </p:nvSpPr>
        <p:spPr>
          <a:xfrm>
            <a:off x="365760" y="1280160"/>
            <a:ext cx="3749039" cy="548640"/>
          </a:xfrm>
          <a:prstGeom prst="rect">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280160"/>
            <a:ext cx="3749039" cy="548640"/>
          </a:xfrm>
          <a:prstGeom prst="rect">
            <a:avLst/>
          </a:prstGeom>
          <a:noFill/>
        </p:spPr>
        <p:txBody>
          <a:bodyPr wrap="square" lIns="0" rIns="0" tIns="0" bIns="0" anchor="ctr">
            <a:spAutoFit/>
          </a:bodyPr>
          <a:lstStyle/>
          <a:p>
            <a:pPr algn="ctr"/>
            <a:r>
              <a:rPr sz="1600" b="1">
                <a:solidFill>
                  <a:srgbClr val="FFFFFF"/>
                </a:solidFill>
                <a:latin typeface="Calibri"/>
              </a:rPr>
              <a:t>ÉTUDIANT</a:t>
            </a:r>
          </a:p>
        </p:txBody>
      </p:sp>
      <p:sp>
        <p:nvSpPr>
          <p:cNvPr id="7" name="Rectangle 6"/>
          <p:cNvSpPr/>
          <p:nvPr/>
        </p:nvSpPr>
        <p:spPr>
          <a:xfrm>
            <a:off x="365760" y="1828800"/>
            <a:ext cx="3749039" cy="41148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011680"/>
            <a:ext cx="3566160" cy="3840480"/>
          </a:xfrm>
          <a:prstGeom prst="rect">
            <a:avLst/>
          </a:prstGeom>
          <a:noFill/>
        </p:spPr>
        <p:txBody>
          <a:bodyPr wrap="square">
            <a:spAutoFit/>
          </a:bodyPr>
          <a:lstStyle/>
          <a:p>
            <a:pPr algn="l">
              <a:lnSpc>
                <a:spcPct val="130000"/>
              </a:lnSpc>
            </a:pPr>
            <a:r>
              <a:rPr sz="1400">
                <a:solidFill>
                  <a:srgbClr val="1A2332"/>
                </a:solidFill>
                <a:latin typeface="Calibri"/>
              </a:rPr>
              <a:t>• Consulter le catalogue</a:t>
            </a:r>
          </a:p>
          <a:p>
            <a:pPr algn="l">
              <a:lnSpc>
                <a:spcPct val="130000"/>
              </a:lnSpc>
            </a:pPr>
            <a:r>
              <a:rPr sz="1400">
                <a:solidFill>
                  <a:srgbClr val="1A2332"/>
                </a:solidFill>
                <a:latin typeface="Calibri"/>
              </a:rPr>
              <a:t>• Faire une demande</a:t>
            </a:r>
          </a:p>
          <a:p>
            <a:pPr algn="l">
              <a:lnSpc>
                <a:spcPct val="130000"/>
              </a:lnSpc>
            </a:pPr>
            <a:r>
              <a:rPr sz="1400">
                <a:solidFill>
                  <a:srgbClr val="1A2332"/>
                </a:solidFill>
                <a:latin typeface="Calibri"/>
              </a:rPr>
              <a:t>• Suivre ses demandes</a:t>
            </a:r>
          </a:p>
          <a:p>
            <a:pPr algn="l">
              <a:lnSpc>
                <a:spcPct val="130000"/>
              </a:lnSpc>
            </a:pPr>
            <a:r>
              <a:rPr sz="1400">
                <a:solidFill>
                  <a:srgbClr val="1A2332"/>
                </a:solidFill>
                <a:latin typeface="Calibri"/>
              </a:rPr>
              <a:t>• Restituer le matériel</a:t>
            </a:r>
          </a:p>
          <a:p>
            <a:pPr algn="l">
              <a:lnSpc>
                <a:spcPct val="130000"/>
              </a:lnSpc>
            </a:pPr>
            <a:r>
              <a:rPr sz="1400">
                <a:solidFill>
                  <a:srgbClr val="1A2332"/>
                </a:solidFill>
                <a:latin typeface="Calibri"/>
              </a:rPr>
              <a:t>• Discuter avec l'IA</a:t>
            </a:r>
          </a:p>
        </p:txBody>
      </p:sp>
      <p:sp>
        <p:nvSpPr>
          <p:cNvPr id="9" name="Rectangle 8"/>
          <p:cNvSpPr/>
          <p:nvPr/>
        </p:nvSpPr>
        <p:spPr>
          <a:xfrm>
            <a:off x="4297680" y="1280160"/>
            <a:ext cx="3749039" cy="548640"/>
          </a:xfrm>
          <a:prstGeom prst="rect">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97680" y="1280160"/>
            <a:ext cx="3749039" cy="548640"/>
          </a:xfrm>
          <a:prstGeom prst="rect">
            <a:avLst/>
          </a:prstGeom>
          <a:noFill/>
        </p:spPr>
        <p:txBody>
          <a:bodyPr wrap="square" lIns="0" rIns="0" tIns="0" bIns="0" anchor="ctr">
            <a:spAutoFit/>
          </a:bodyPr>
          <a:lstStyle/>
          <a:p>
            <a:pPr algn="ctr"/>
            <a:r>
              <a:rPr sz="1600" b="1">
                <a:solidFill>
                  <a:srgbClr val="FFFFFF"/>
                </a:solidFill>
                <a:latin typeface="Calibri"/>
              </a:rPr>
              <a:t>TECHNICIEN</a:t>
            </a:r>
          </a:p>
        </p:txBody>
      </p:sp>
      <p:sp>
        <p:nvSpPr>
          <p:cNvPr id="11" name="Rectangle 10"/>
          <p:cNvSpPr/>
          <p:nvPr/>
        </p:nvSpPr>
        <p:spPr>
          <a:xfrm>
            <a:off x="4297680" y="1828800"/>
            <a:ext cx="3749039" cy="41148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2011680"/>
            <a:ext cx="3566160" cy="3840480"/>
          </a:xfrm>
          <a:prstGeom prst="rect">
            <a:avLst/>
          </a:prstGeom>
          <a:noFill/>
        </p:spPr>
        <p:txBody>
          <a:bodyPr wrap="square">
            <a:spAutoFit/>
          </a:bodyPr>
          <a:lstStyle/>
          <a:p>
            <a:pPr algn="l">
              <a:lnSpc>
                <a:spcPct val="130000"/>
              </a:lnSpc>
            </a:pPr>
            <a:r>
              <a:rPr sz="1400">
                <a:solidFill>
                  <a:srgbClr val="1A2332"/>
                </a:solidFill>
                <a:latin typeface="Calibri"/>
              </a:rPr>
              <a:t>• Valider/refuser demandes</a:t>
            </a:r>
          </a:p>
          <a:p>
            <a:pPr algn="l">
              <a:lnSpc>
                <a:spcPct val="130000"/>
              </a:lnSpc>
            </a:pPr>
            <a:r>
              <a:rPr sz="1400">
                <a:solidFill>
                  <a:srgbClr val="1A2332"/>
                </a:solidFill>
                <a:latin typeface="Calibri"/>
              </a:rPr>
              <a:t>• Préparer le matériel</a:t>
            </a:r>
          </a:p>
          <a:p>
            <a:pPr algn="l">
              <a:lnSpc>
                <a:spcPct val="130000"/>
              </a:lnSpc>
            </a:pPr>
            <a:r>
              <a:rPr sz="1400">
                <a:solidFill>
                  <a:srgbClr val="1A2332"/>
                </a:solidFill>
                <a:latin typeface="Calibri"/>
              </a:rPr>
              <a:t>• Enregistrer restitutions</a:t>
            </a:r>
          </a:p>
          <a:p>
            <a:pPr algn="l">
              <a:lnSpc>
                <a:spcPct val="130000"/>
              </a:lnSpc>
            </a:pPr>
            <a:r>
              <a:rPr sz="1400">
                <a:solidFill>
                  <a:srgbClr val="1A2332"/>
                </a:solidFill>
                <a:latin typeface="Calibri"/>
              </a:rPr>
              <a:t>• Marquer l'état du matériel</a:t>
            </a:r>
          </a:p>
          <a:p>
            <a:pPr algn="l">
              <a:lnSpc>
                <a:spcPct val="130000"/>
              </a:lnSpc>
            </a:pPr>
            <a:r>
              <a:rPr sz="1400">
                <a:solidFill>
                  <a:srgbClr val="1A2332"/>
                </a:solidFill>
                <a:latin typeface="Calibri"/>
              </a:rPr>
              <a:t>• Voir les retards</a:t>
            </a:r>
          </a:p>
        </p:txBody>
      </p:sp>
      <p:sp>
        <p:nvSpPr>
          <p:cNvPr id="13" name="Rectangle 12"/>
          <p:cNvSpPr/>
          <p:nvPr/>
        </p:nvSpPr>
        <p:spPr>
          <a:xfrm>
            <a:off x="8229600" y="1280160"/>
            <a:ext cx="3749039" cy="548640"/>
          </a:xfrm>
          <a:prstGeom prst="rect">
            <a:avLst/>
          </a:prstGeom>
          <a:solidFill>
            <a:srgbClr val="0A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1280160"/>
            <a:ext cx="3749039" cy="548640"/>
          </a:xfrm>
          <a:prstGeom prst="rect">
            <a:avLst/>
          </a:prstGeom>
          <a:noFill/>
        </p:spPr>
        <p:txBody>
          <a:bodyPr wrap="square" lIns="0" rIns="0" tIns="0" bIns="0" anchor="ctr">
            <a:spAutoFit/>
          </a:bodyPr>
          <a:lstStyle/>
          <a:p>
            <a:pPr algn="ctr"/>
            <a:r>
              <a:rPr sz="1600" b="1">
                <a:solidFill>
                  <a:srgbClr val="FFFFFF"/>
                </a:solidFill>
                <a:latin typeface="Calibri"/>
              </a:rPr>
              <a:t>ADMINISTRATEUR</a:t>
            </a:r>
          </a:p>
        </p:txBody>
      </p:sp>
      <p:sp>
        <p:nvSpPr>
          <p:cNvPr id="15" name="Rectangle 14"/>
          <p:cNvSpPr/>
          <p:nvPr/>
        </p:nvSpPr>
        <p:spPr>
          <a:xfrm>
            <a:off x="8229600" y="1828800"/>
            <a:ext cx="3749039" cy="41148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0" y="2011680"/>
            <a:ext cx="3566160" cy="3840480"/>
          </a:xfrm>
          <a:prstGeom prst="rect">
            <a:avLst/>
          </a:prstGeom>
          <a:noFill/>
        </p:spPr>
        <p:txBody>
          <a:bodyPr wrap="square">
            <a:spAutoFit/>
          </a:bodyPr>
          <a:lstStyle/>
          <a:p>
            <a:pPr algn="l">
              <a:lnSpc>
                <a:spcPct val="130000"/>
              </a:lnSpc>
            </a:pPr>
            <a:r>
              <a:rPr sz="1400">
                <a:solidFill>
                  <a:srgbClr val="1A2332"/>
                </a:solidFill>
                <a:latin typeface="Calibri"/>
              </a:rPr>
              <a:t>• Gérer les utilisateurs</a:t>
            </a:r>
          </a:p>
          <a:p>
            <a:pPr algn="l">
              <a:lnSpc>
                <a:spcPct val="130000"/>
              </a:lnSpc>
            </a:pPr>
            <a:r>
              <a:rPr sz="1400">
                <a:solidFill>
                  <a:srgbClr val="1A2332"/>
                </a:solidFill>
                <a:latin typeface="Calibri"/>
              </a:rPr>
              <a:t>• Gérer le catalogue</a:t>
            </a:r>
          </a:p>
          <a:p>
            <a:pPr algn="l">
              <a:lnSpc>
                <a:spcPct val="130000"/>
              </a:lnSpc>
            </a:pPr>
            <a:r>
              <a:rPr sz="1400">
                <a:solidFill>
                  <a:srgbClr val="1A2332"/>
                </a:solidFill>
                <a:latin typeface="Calibri"/>
              </a:rPr>
              <a:t>• Voir les statistiques</a:t>
            </a:r>
          </a:p>
          <a:p>
            <a:pPr algn="l">
              <a:lnSpc>
                <a:spcPct val="130000"/>
              </a:lnSpc>
            </a:pPr>
            <a:r>
              <a:rPr sz="1400">
                <a:solidFill>
                  <a:srgbClr val="1A2332"/>
                </a:solidFill>
                <a:latin typeface="Calibri"/>
              </a:rPr>
              <a:t>• Exporter les données</a:t>
            </a:r>
          </a:p>
          <a:p>
            <a:pPr algn="l">
              <a:lnSpc>
                <a:spcPct val="130000"/>
              </a:lnSpc>
            </a:pPr>
            <a:r>
              <a:rPr sz="1400">
                <a:solidFill>
                  <a:srgbClr val="1A2332"/>
                </a:solidFill>
                <a:latin typeface="Calibri"/>
              </a:rPr>
              <a:t>• Configurer le système</a:t>
            </a:r>
          </a:p>
        </p:txBody>
      </p:sp>
      <p:sp>
        <p:nvSpPr>
          <p:cNvPr id="17" name="Rectangle 16"/>
          <p:cNvSpPr/>
          <p:nvPr/>
        </p:nvSpPr>
        <p:spPr>
          <a:xfrm>
            <a:off x="0" y="6400800"/>
            <a:ext cx="12191695" cy="4572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760" y="6473952"/>
            <a:ext cx="7315200" cy="320040"/>
          </a:xfrm>
          <a:prstGeom prst="rect">
            <a:avLst/>
          </a:prstGeom>
          <a:noFill/>
        </p:spPr>
        <p:txBody>
          <a:bodyPr wrap="square" lIns="0" rIns="0" tIns="0" bIns="0" anchor="t">
            <a:spAutoFit/>
          </a:bodyPr>
          <a:lstStyle/>
          <a:p>
            <a:pPr algn="l"/>
            <a:r>
              <a:rPr sz="1000" b="0">
                <a:solidFill>
                  <a:srgbClr val="6C757D"/>
                </a:solidFill>
                <a:latin typeface="Calibri"/>
              </a:rPr>
              <a:t>Hanne &amp; Kounta — Gestion Emprunt Matériel Topographique — UFR SI UIDT</a:t>
            </a:r>
          </a:p>
        </p:txBody>
      </p:sp>
      <p:sp>
        <p:nvSpPr>
          <p:cNvPr id="19" name="TextBox 18"/>
          <p:cNvSpPr txBox="1"/>
          <p:nvPr/>
        </p:nvSpPr>
        <p:spPr>
          <a:xfrm>
            <a:off x="10515600" y="6473952"/>
            <a:ext cx="1371600" cy="320040"/>
          </a:xfrm>
          <a:prstGeom prst="rect">
            <a:avLst/>
          </a:prstGeom>
          <a:noFill/>
        </p:spPr>
        <p:txBody>
          <a:bodyPr wrap="square" lIns="0" rIns="0" tIns="0" bIns="0" anchor="t">
            <a:spAutoFit/>
          </a:bodyPr>
          <a:lstStyle/>
          <a:p>
            <a:pPr algn="r"/>
            <a:r>
              <a:rPr sz="1000" b="0">
                <a:solidFill>
                  <a:srgbClr val="6C757D"/>
                </a:solidFill>
                <a:latin typeface="Calibri"/>
              </a:rPr>
              <a:t>8 / 22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10515600" cy="457200"/>
          </a:xfrm>
          <a:prstGeom prst="rect">
            <a:avLst/>
          </a:prstGeom>
          <a:noFill/>
        </p:spPr>
        <p:txBody>
          <a:bodyPr wrap="square" lIns="0" rIns="0" tIns="0" bIns="0" anchor="t">
            <a:spAutoFit/>
          </a:bodyPr>
          <a:lstStyle/>
          <a:p>
            <a:pPr algn="l"/>
            <a:r>
              <a:rPr sz="2400" b="1">
                <a:solidFill>
                  <a:srgbClr val="FFFFFF"/>
                </a:solidFill>
                <a:latin typeface="Calibri"/>
              </a:rPr>
              <a:t>5. Backend — Django + DRF</a:t>
            </a:r>
          </a:p>
        </p:txBody>
      </p:sp>
      <p:sp>
        <p:nvSpPr>
          <p:cNvPr id="4" name="TextBox 3"/>
          <p:cNvSpPr txBox="1"/>
          <p:nvPr/>
        </p:nvSpPr>
        <p:spPr>
          <a:xfrm>
            <a:off x="10515600" y="228600"/>
            <a:ext cx="1371600" cy="457200"/>
          </a:xfrm>
          <a:prstGeom prst="rect">
            <a:avLst/>
          </a:prstGeom>
          <a:noFill/>
        </p:spPr>
        <p:txBody>
          <a:bodyPr wrap="square" lIns="0" rIns="0" tIns="0" bIns="0" anchor="t">
            <a:spAutoFit/>
          </a:bodyPr>
          <a:lstStyle/>
          <a:p>
            <a:pPr algn="r"/>
            <a:r>
              <a:rPr sz="1200" b="0">
                <a:solidFill>
                  <a:srgbClr val="FFFFFF"/>
                </a:solidFill>
                <a:latin typeface="Calibri"/>
              </a:rPr>
              <a:t>9/22</a:t>
            </a:r>
          </a:p>
        </p:txBody>
      </p:sp>
      <p:sp>
        <p:nvSpPr>
          <p:cNvPr id="5" name="TextBox 4"/>
          <p:cNvSpPr txBox="1"/>
          <p:nvPr/>
        </p:nvSpPr>
        <p:spPr>
          <a:xfrm>
            <a:off x="640080" y="1188720"/>
            <a:ext cx="10972800" cy="457200"/>
          </a:xfrm>
          <a:prstGeom prst="rect">
            <a:avLst/>
          </a:prstGeom>
          <a:noFill/>
        </p:spPr>
        <p:txBody>
          <a:bodyPr wrap="square" lIns="0" rIns="0" tIns="0" bIns="0" anchor="t">
            <a:spAutoFit/>
          </a:bodyPr>
          <a:lstStyle/>
          <a:p>
            <a:pPr algn="l"/>
            <a:r>
              <a:rPr sz="2000" b="1">
                <a:solidFill>
                  <a:srgbClr val="0D6EFD"/>
                </a:solidFill>
                <a:latin typeface="Calibri"/>
              </a:rPr>
              <a:t>Stack &amp; choix techniques</a:t>
            </a:r>
          </a:p>
        </p:txBody>
      </p:sp>
      <p:sp>
        <p:nvSpPr>
          <p:cNvPr id="6" name="TextBox 5"/>
          <p:cNvSpPr txBox="1"/>
          <p:nvPr/>
        </p:nvSpPr>
        <p:spPr>
          <a:xfrm>
            <a:off x="640080" y="1737360"/>
            <a:ext cx="5486400" cy="4572000"/>
          </a:xfrm>
          <a:prstGeom prst="rect">
            <a:avLst/>
          </a:prstGeom>
          <a:noFill/>
        </p:spPr>
        <p:txBody>
          <a:bodyPr wrap="square">
            <a:spAutoFit/>
          </a:bodyPr>
          <a:lstStyle/>
          <a:p>
            <a:pPr algn="l">
              <a:lnSpc>
                <a:spcPct val="130000"/>
              </a:lnSpc>
            </a:pPr>
            <a:r>
              <a:rPr sz="1500">
                <a:solidFill>
                  <a:srgbClr val="1A2332"/>
                </a:solidFill>
                <a:latin typeface="Calibri"/>
              </a:rPr>
              <a:t>• Django 5.0.6 (LTS-équivalent, stable)</a:t>
            </a:r>
          </a:p>
          <a:p>
            <a:pPr algn="l">
              <a:lnSpc>
                <a:spcPct val="130000"/>
              </a:lnSpc>
            </a:pPr>
            <a:r>
              <a:rPr sz="1500">
                <a:solidFill>
                  <a:srgbClr val="1A2332"/>
                </a:solidFill>
                <a:latin typeface="Calibri"/>
              </a:rPr>
              <a:t>• Django REST Framework 3.15</a:t>
            </a:r>
          </a:p>
          <a:p>
            <a:pPr algn="l">
              <a:lnSpc>
                <a:spcPct val="130000"/>
              </a:lnSpc>
            </a:pPr>
            <a:r>
              <a:rPr sz="1500">
                <a:solidFill>
                  <a:srgbClr val="1A2332"/>
                </a:solidFill>
                <a:latin typeface="Calibri"/>
              </a:rPr>
              <a:t>• JWT via SimpleJWT (5.3)</a:t>
            </a:r>
          </a:p>
          <a:p>
            <a:pPr algn="l">
              <a:lnSpc>
                <a:spcPct val="130000"/>
              </a:lnSpc>
            </a:pPr>
            <a:r>
              <a:rPr sz="1500">
                <a:solidFill>
                  <a:srgbClr val="1A2332"/>
                </a:solidFill>
                <a:latin typeface="Calibri"/>
              </a:rPr>
              <a:t>• django-cors-headers + django-filter</a:t>
            </a:r>
          </a:p>
          <a:p>
            <a:pPr algn="l">
              <a:lnSpc>
                <a:spcPct val="130000"/>
              </a:lnSpc>
            </a:pPr>
            <a:r>
              <a:rPr sz="1500">
                <a:solidFill>
                  <a:srgbClr val="1A2332"/>
                </a:solidFill>
                <a:latin typeface="Calibri"/>
              </a:rPr>
              <a:t>• SQLite en développement</a:t>
            </a:r>
          </a:p>
          <a:p>
            <a:pPr algn="l">
              <a:lnSpc>
                <a:spcPct val="130000"/>
              </a:lnSpc>
            </a:pPr>
            <a:r>
              <a:rPr sz="1500">
                <a:solidFill>
                  <a:srgbClr val="1A2332"/>
                </a:solidFill>
                <a:latin typeface="Calibri"/>
              </a:rPr>
              <a:t>• Pillow pour photos matériel</a:t>
            </a:r>
          </a:p>
        </p:txBody>
      </p:sp>
      <p:sp>
        <p:nvSpPr>
          <p:cNvPr id="7" name="TextBox 6"/>
          <p:cNvSpPr txBox="1"/>
          <p:nvPr/>
        </p:nvSpPr>
        <p:spPr>
          <a:xfrm>
            <a:off x="6400800" y="1188720"/>
            <a:ext cx="5486400" cy="457200"/>
          </a:xfrm>
          <a:prstGeom prst="rect">
            <a:avLst/>
          </a:prstGeom>
          <a:noFill/>
        </p:spPr>
        <p:txBody>
          <a:bodyPr wrap="square" lIns="0" rIns="0" tIns="0" bIns="0" anchor="t">
            <a:spAutoFit/>
          </a:bodyPr>
          <a:lstStyle/>
          <a:p>
            <a:pPr algn="l"/>
            <a:r>
              <a:rPr sz="2000" b="1">
                <a:solidFill>
                  <a:srgbClr val="0D6EFD"/>
                </a:solidFill>
                <a:latin typeface="Calibri"/>
              </a:rPr>
              <a:t>Apps Django créées</a:t>
            </a:r>
          </a:p>
        </p:txBody>
      </p:sp>
      <p:sp>
        <p:nvSpPr>
          <p:cNvPr id="8" name="TextBox 7"/>
          <p:cNvSpPr txBox="1"/>
          <p:nvPr/>
        </p:nvSpPr>
        <p:spPr>
          <a:xfrm>
            <a:off x="6400800" y="1737360"/>
            <a:ext cx="5486400" cy="4572000"/>
          </a:xfrm>
          <a:prstGeom prst="rect">
            <a:avLst/>
          </a:prstGeom>
          <a:noFill/>
        </p:spPr>
        <p:txBody>
          <a:bodyPr wrap="square">
            <a:spAutoFit/>
          </a:bodyPr>
          <a:lstStyle/>
          <a:p>
            <a:pPr algn="l">
              <a:lnSpc>
                <a:spcPct val="130000"/>
              </a:lnSpc>
            </a:pPr>
            <a:r>
              <a:rPr sz="1500">
                <a:solidFill>
                  <a:srgbClr val="1A2332"/>
                </a:solidFill>
                <a:latin typeface="Calibri"/>
              </a:rPr>
              <a:t>• users — Utilisateur (AbstractUser)</a:t>
            </a:r>
          </a:p>
          <a:p>
            <a:pPr algn="l">
              <a:lnSpc>
                <a:spcPct val="130000"/>
              </a:lnSpc>
            </a:pPr>
            <a:r>
              <a:rPr sz="1500">
                <a:solidFill>
                  <a:srgbClr val="1A2332"/>
                </a:solidFill>
                <a:latin typeface="Calibri"/>
              </a:rPr>
              <a:t>• materiels — Materiel + ImageField</a:t>
            </a:r>
          </a:p>
          <a:p>
            <a:pPr algn="l">
              <a:lnSpc>
                <a:spcPct val="130000"/>
              </a:lnSpc>
            </a:pPr>
            <a:r>
              <a:rPr sz="1500">
                <a:solidFill>
                  <a:srgbClr val="1A2332"/>
                </a:solidFill>
                <a:latin typeface="Calibri"/>
              </a:rPr>
              <a:t>• demandes — Demande + Restitution</a:t>
            </a:r>
          </a:p>
          <a:p>
            <a:pPr algn="l">
              <a:lnSpc>
                <a:spcPct val="130000"/>
              </a:lnSpc>
            </a:pPr>
            <a:r>
              <a:rPr sz="1500">
                <a:solidFill>
                  <a:srgbClr val="1A2332"/>
                </a:solidFill>
                <a:latin typeface="Calibri"/>
              </a:rPr>
              <a:t>• geo — PointGPS + import CSV</a:t>
            </a:r>
          </a:p>
          <a:p>
            <a:pPr algn="l">
              <a:lnSpc>
                <a:spcPct val="130000"/>
              </a:lnSpc>
            </a:pPr>
            <a:r>
              <a:rPr sz="1500">
                <a:solidFill>
                  <a:srgbClr val="1A2332"/>
                </a:solidFill>
                <a:latin typeface="Calibri"/>
              </a:rPr>
              <a:t>• ia — proxy chatbot vers FastAPI</a:t>
            </a:r>
          </a:p>
        </p:txBody>
      </p:sp>
      <p:sp>
        <p:nvSpPr>
          <p:cNvPr id="9" name="Rectangle 8"/>
          <p:cNvSpPr/>
          <p:nvPr/>
        </p:nvSpPr>
        <p:spPr>
          <a:xfrm>
            <a:off x="0" y="6400800"/>
            <a:ext cx="12191695" cy="4572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73952"/>
            <a:ext cx="7315200" cy="320040"/>
          </a:xfrm>
          <a:prstGeom prst="rect">
            <a:avLst/>
          </a:prstGeom>
          <a:noFill/>
        </p:spPr>
        <p:txBody>
          <a:bodyPr wrap="square" lIns="0" rIns="0" tIns="0" bIns="0" anchor="t">
            <a:spAutoFit/>
          </a:bodyPr>
          <a:lstStyle/>
          <a:p>
            <a:pPr algn="l"/>
            <a:r>
              <a:rPr sz="1000" b="0">
                <a:solidFill>
                  <a:srgbClr val="6C757D"/>
                </a:solidFill>
                <a:latin typeface="Calibri"/>
              </a:rPr>
              <a:t>Hanne &amp; Kounta — Gestion Emprunt Matériel Topographique — UFR SI UIDT</a:t>
            </a:r>
          </a:p>
        </p:txBody>
      </p:sp>
      <p:sp>
        <p:nvSpPr>
          <p:cNvPr id="11" name="TextBox 10"/>
          <p:cNvSpPr txBox="1"/>
          <p:nvPr/>
        </p:nvSpPr>
        <p:spPr>
          <a:xfrm>
            <a:off x="10515600" y="6473952"/>
            <a:ext cx="1371600" cy="320040"/>
          </a:xfrm>
          <a:prstGeom prst="rect">
            <a:avLst/>
          </a:prstGeom>
          <a:noFill/>
        </p:spPr>
        <p:txBody>
          <a:bodyPr wrap="square" lIns="0" rIns="0" tIns="0" bIns="0" anchor="t">
            <a:spAutoFit/>
          </a:bodyPr>
          <a:lstStyle/>
          <a:p>
            <a:pPr algn="r"/>
            <a:r>
              <a:rPr sz="1000" b="0">
                <a:solidFill>
                  <a:srgbClr val="6C757D"/>
                </a:solidFill>
                <a:latin typeface="Calibri"/>
              </a:rPr>
              <a:t>9 / 22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10515600" cy="457200"/>
          </a:xfrm>
          <a:prstGeom prst="rect">
            <a:avLst/>
          </a:prstGeom>
          <a:noFill/>
        </p:spPr>
        <p:txBody>
          <a:bodyPr wrap="square" lIns="0" rIns="0" tIns="0" bIns="0" anchor="t">
            <a:spAutoFit/>
          </a:bodyPr>
          <a:lstStyle/>
          <a:p>
            <a:pPr algn="l"/>
            <a:r>
              <a:rPr sz="2400" b="1">
                <a:solidFill>
                  <a:srgbClr val="FFFFFF"/>
                </a:solidFill>
                <a:latin typeface="Calibri"/>
              </a:rPr>
              <a:t>5. API REST — Endpoints</a:t>
            </a:r>
          </a:p>
        </p:txBody>
      </p:sp>
      <p:sp>
        <p:nvSpPr>
          <p:cNvPr id="4" name="TextBox 3"/>
          <p:cNvSpPr txBox="1"/>
          <p:nvPr/>
        </p:nvSpPr>
        <p:spPr>
          <a:xfrm>
            <a:off x="10515600" y="228600"/>
            <a:ext cx="1371600" cy="457200"/>
          </a:xfrm>
          <a:prstGeom prst="rect">
            <a:avLst/>
          </a:prstGeom>
          <a:noFill/>
        </p:spPr>
        <p:txBody>
          <a:bodyPr wrap="square" lIns="0" rIns="0" tIns="0" bIns="0" anchor="t">
            <a:spAutoFit/>
          </a:bodyPr>
          <a:lstStyle/>
          <a:p>
            <a:pPr algn="r"/>
            <a:r>
              <a:rPr sz="1200" b="0">
                <a:solidFill>
                  <a:srgbClr val="FFFFFF"/>
                </a:solidFill>
                <a:latin typeface="Calibri"/>
              </a:rPr>
              <a:t>10/22</a:t>
            </a:r>
          </a:p>
        </p:txBody>
      </p:sp>
      <p:sp>
        <p:nvSpPr>
          <p:cNvPr id="5" name="Rectangle 4"/>
          <p:cNvSpPr/>
          <p:nvPr/>
        </p:nvSpPr>
        <p:spPr>
          <a:xfrm>
            <a:off x="640080" y="1280160"/>
            <a:ext cx="1371600" cy="411480"/>
          </a:xfrm>
          <a:prstGeom prst="rect">
            <a:avLst/>
          </a:prstGeom>
          <a:solidFill>
            <a:srgbClr val="0A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280160"/>
            <a:ext cx="1371600" cy="411480"/>
          </a:xfrm>
          <a:prstGeom prst="rect">
            <a:avLst/>
          </a:prstGeom>
          <a:noFill/>
        </p:spPr>
        <p:txBody>
          <a:bodyPr wrap="square" lIns="0" rIns="0" tIns="0" bIns="0" anchor="ctr">
            <a:spAutoFit/>
          </a:bodyPr>
          <a:lstStyle/>
          <a:p>
            <a:pPr algn="ctr"/>
            <a:r>
              <a:rPr sz="1300" b="1">
                <a:solidFill>
                  <a:srgbClr val="FFFFFF"/>
                </a:solidFill>
                <a:latin typeface="Calibri"/>
              </a:rPr>
              <a:t>Méthode</a:t>
            </a:r>
          </a:p>
        </p:txBody>
      </p:sp>
      <p:sp>
        <p:nvSpPr>
          <p:cNvPr id="7" name="Rectangle 6"/>
          <p:cNvSpPr/>
          <p:nvPr/>
        </p:nvSpPr>
        <p:spPr>
          <a:xfrm>
            <a:off x="2011680" y="1280160"/>
            <a:ext cx="3657600" cy="411480"/>
          </a:xfrm>
          <a:prstGeom prst="rect">
            <a:avLst/>
          </a:prstGeom>
          <a:solidFill>
            <a:srgbClr val="0A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11680" y="1280160"/>
            <a:ext cx="3657600" cy="411480"/>
          </a:xfrm>
          <a:prstGeom prst="rect">
            <a:avLst/>
          </a:prstGeom>
          <a:noFill/>
        </p:spPr>
        <p:txBody>
          <a:bodyPr wrap="square" lIns="0" rIns="0" tIns="0" bIns="0" anchor="ctr">
            <a:spAutoFit/>
          </a:bodyPr>
          <a:lstStyle/>
          <a:p>
            <a:pPr algn="ctr"/>
            <a:r>
              <a:rPr sz="1300" b="1">
                <a:solidFill>
                  <a:srgbClr val="FFFFFF"/>
                </a:solidFill>
                <a:latin typeface="Calibri"/>
              </a:rPr>
              <a:t>Endpoint</a:t>
            </a:r>
          </a:p>
        </p:txBody>
      </p:sp>
      <p:sp>
        <p:nvSpPr>
          <p:cNvPr id="9" name="Rectangle 8"/>
          <p:cNvSpPr/>
          <p:nvPr/>
        </p:nvSpPr>
        <p:spPr>
          <a:xfrm>
            <a:off x="5669280" y="1280160"/>
            <a:ext cx="6400800" cy="411480"/>
          </a:xfrm>
          <a:prstGeom prst="rect">
            <a:avLst/>
          </a:prstGeom>
          <a:solidFill>
            <a:srgbClr val="0A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0" y="1280160"/>
            <a:ext cx="6400800" cy="411480"/>
          </a:xfrm>
          <a:prstGeom prst="rect">
            <a:avLst/>
          </a:prstGeom>
          <a:noFill/>
        </p:spPr>
        <p:txBody>
          <a:bodyPr wrap="square" lIns="0" rIns="0" tIns="0" bIns="0" anchor="ctr">
            <a:spAutoFit/>
          </a:bodyPr>
          <a:lstStyle/>
          <a:p>
            <a:pPr algn="ctr"/>
            <a:r>
              <a:rPr sz="1300" b="1">
                <a:solidFill>
                  <a:srgbClr val="FFFFFF"/>
                </a:solidFill>
                <a:latin typeface="Calibri"/>
              </a:rPr>
              <a:t>Description</a:t>
            </a:r>
          </a:p>
        </p:txBody>
      </p:sp>
      <p:sp>
        <p:nvSpPr>
          <p:cNvPr id="11" name="Rectangle 10"/>
          <p:cNvSpPr/>
          <p:nvPr/>
        </p:nvSpPr>
        <p:spPr>
          <a:xfrm>
            <a:off x="640080" y="1691640"/>
            <a:ext cx="1371600" cy="4114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691640"/>
            <a:ext cx="1280160" cy="411480"/>
          </a:xfrm>
          <a:prstGeom prst="rect">
            <a:avLst/>
          </a:prstGeom>
          <a:noFill/>
        </p:spPr>
        <p:txBody>
          <a:bodyPr wrap="square" lIns="0" rIns="0" tIns="0" bIns="0" anchor="ctr">
            <a:spAutoFit/>
          </a:bodyPr>
          <a:lstStyle/>
          <a:p>
            <a:pPr algn="ctr"/>
            <a:r>
              <a:rPr sz="1200" b="0">
                <a:solidFill>
                  <a:srgbClr val="1A2332"/>
                </a:solidFill>
                <a:latin typeface="Calibri"/>
              </a:rPr>
              <a:t>POST</a:t>
            </a:r>
          </a:p>
        </p:txBody>
      </p:sp>
      <p:sp>
        <p:nvSpPr>
          <p:cNvPr id="13" name="Rectangle 12"/>
          <p:cNvSpPr/>
          <p:nvPr/>
        </p:nvSpPr>
        <p:spPr>
          <a:xfrm>
            <a:off x="2011680" y="1691640"/>
            <a:ext cx="3657600" cy="4114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103120" y="1691640"/>
            <a:ext cx="3566160" cy="411480"/>
          </a:xfrm>
          <a:prstGeom prst="rect">
            <a:avLst/>
          </a:prstGeom>
          <a:noFill/>
        </p:spPr>
        <p:txBody>
          <a:bodyPr wrap="square" lIns="0" rIns="0" tIns="0" bIns="0" anchor="ctr">
            <a:spAutoFit/>
          </a:bodyPr>
          <a:lstStyle/>
          <a:p>
            <a:pPr algn="l"/>
            <a:r>
              <a:rPr sz="1200" b="0">
                <a:solidFill>
                  <a:srgbClr val="1A2332"/>
                </a:solidFill>
                <a:latin typeface="Calibri"/>
              </a:rPr>
              <a:t>/api/auth/login/</a:t>
            </a:r>
          </a:p>
        </p:txBody>
      </p:sp>
      <p:sp>
        <p:nvSpPr>
          <p:cNvPr id="15" name="Rectangle 14"/>
          <p:cNvSpPr/>
          <p:nvPr/>
        </p:nvSpPr>
        <p:spPr>
          <a:xfrm>
            <a:off x="5669280" y="1691640"/>
            <a:ext cx="6400800" cy="4114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60720" y="1691640"/>
            <a:ext cx="6309360" cy="411480"/>
          </a:xfrm>
          <a:prstGeom prst="rect">
            <a:avLst/>
          </a:prstGeom>
          <a:noFill/>
        </p:spPr>
        <p:txBody>
          <a:bodyPr wrap="square" lIns="0" rIns="0" tIns="0" bIns="0" anchor="ctr">
            <a:spAutoFit/>
          </a:bodyPr>
          <a:lstStyle/>
          <a:p>
            <a:pPr algn="l"/>
            <a:r>
              <a:rPr sz="1200" b="0">
                <a:solidFill>
                  <a:srgbClr val="1A2332"/>
                </a:solidFill>
                <a:latin typeface="Calibri"/>
              </a:rPr>
              <a:t>Connexion (renvoie JWT)</a:t>
            </a:r>
          </a:p>
        </p:txBody>
      </p:sp>
      <p:sp>
        <p:nvSpPr>
          <p:cNvPr id="17" name="Rectangle 16"/>
          <p:cNvSpPr/>
          <p:nvPr/>
        </p:nvSpPr>
        <p:spPr>
          <a:xfrm>
            <a:off x="640080" y="2103120"/>
            <a:ext cx="137160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2103120"/>
            <a:ext cx="1280160" cy="411480"/>
          </a:xfrm>
          <a:prstGeom prst="rect">
            <a:avLst/>
          </a:prstGeom>
          <a:noFill/>
        </p:spPr>
        <p:txBody>
          <a:bodyPr wrap="square" lIns="0" rIns="0" tIns="0" bIns="0" anchor="ctr">
            <a:spAutoFit/>
          </a:bodyPr>
          <a:lstStyle/>
          <a:p>
            <a:pPr algn="ctr"/>
            <a:r>
              <a:rPr sz="1200" b="0">
                <a:solidFill>
                  <a:srgbClr val="1A2332"/>
                </a:solidFill>
                <a:latin typeface="Calibri"/>
              </a:rPr>
              <a:t>GET</a:t>
            </a:r>
          </a:p>
        </p:txBody>
      </p:sp>
      <p:sp>
        <p:nvSpPr>
          <p:cNvPr id="19" name="Rectangle 18"/>
          <p:cNvSpPr/>
          <p:nvPr/>
        </p:nvSpPr>
        <p:spPr>
          <a:xfrm>
            <a:off x="2011680" y="2103120"/>
            <a:ext cx="365760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103120" y="2103120"/>
            <a:ext cx="3566160" cy="411480"/>
          </a:xfrm>
          <a:prstGeom prst="rect">
            <a:avLst/>
          </a:prstGeom>
          <a:noFill/>
        </p:spPr>
        <p:txBody>
          <a:bodyPr wrap="square" lIns="0" rIns="0" tIns="0" bIns="0" anchor="ctr">
            <a:spAutoFit/>
          </a:bodyPr>
          <a:lstStyle/>
          <a:p>
            <a:pPr algn="l"/>
            <a:r>
              <a:rPr sz="1200" b="0">
                <a:solidFill>
                  <a:srgbClr val="1A2332"/>
                </a:solidFill>
                <a:latin typeface="Calibri"/>
              </a:rPr>
              <a:t>/api/materiels/</a:t>
            </a:r>
          </a:p>
        </p:txBody>
      </p:sp>
      <p:sp>
        <p:nvSpPr>
          <p:cNvPr id="21" name="Rectangle 20"/>
          <p:cNvSpPr/>
          <p:nvPr/>
        </p:nvSpPr>
        <p:spPr>
          <a:xfrm>
            <a:off x="5669280" y="2103120"/>
            <a:ext cx="640080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0720" y="2103120"/>
            <a:ext cx="6309360" cy="411480"/>
          </a:xfrm>
          <a:prstGeom prst="rect">
            <a:avLst/>
          </a:prstGeom>
          <a:noFill/>
        </p:spPr>
        <p:txBody>
          <a:bodyPr wrap="square" lIns="0" rIns="0" tIns="0" bIns="0" anchor="ctr">
            <a:spAutoFit/>
          </a:bodyPr>
          <a:lstStyle/>
          <a:p>
            <a:pPr algn="l"/>
            <a:r>
              <a:rPr sz="1200" b="0">
                <a:solidFill>
                  <a:srgbClr val="1A2332"/>
                </a:solidFill>
                <a:latin typeface="Calibri"/>
              </a:rPr>
              <a:t>Liste du matériel</a:t>
            </a:r>
          </a:p>
        </p:txBody>
      </p:sp>
      <p:sp>
        <p:nvSpPr>
          <p:cNvPr id="23" name="Rectangle 22"/>
          <p:cNvSpPr/>
          <p:nvPr/>
        </p:nvSpPr>
        <p:spPr>
          <a:xfrm>
            <a:off x="640080" y="2514600"/>
            <a:ext cx="1371600" cy="4114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2514600"/>
            <a:ext cx="1280160" cy="411480"/>
          </a:xfrm>
          <a:prstGeom prst="rect">
            <a:avLst/>
          </a:prstGeom>
          <a:noFill/>
        </p:spPr>
        <p:txBody>
          <a:bodyPr wrap="square" lIns="0" rIns="0" tIns="0" bIns="0" anchor="ctr">
            <a:spAutoFit/>
          </a:bodyPr>
          <a:lstStyle/>
          <a:p>
            <a:pPr algn="ctr"/>
            <a:r>
              <a:rPr sz="1200" b="0">
                <a:solidFill>
                  <a:srgbClr val="1A2332"/>
                </a:solidFill>
                <a:latin typeface="Calibri"/>
              </a:rPr>
              <a:t>GET</a:t>
            </a:r>
          </a:p>
        </p:txBody>
      </p:sp>
      <p:sp>
        <p:nvSpPr>
          <p:cNvPr id="25" name="Rectangle 24"/>
          <p:cNvSpPr/>
          <p:nvPr/>
        </p:nvSpPr>
        <p:spPr>
          <a:xfrm>
            <a:off x="2011680" y="2514600"/>
            <a:ext cx="3657600" cy="4114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103120" y="2514600"/>
            <a:ext cx="3566160" cy="411480"/>
          </a:xfrm>
          <a:prstGeom prst="rect">
            <a:avLst/>
          </a:prstGeom>
          <a:noFill/>
        </p:spPr>
        <p:txBody>
          <a:bodyPr wrap="square" lIns="0" rIns="0" tIns="0" bIns="0" anchor="ctr">
            <a:spAutoFit/>
          </a:bodyPr>
          <a:lstStyle/>
          <a:p>
            <a:pPr algn="l"/>
            <a:r>
              <a:rPr sz="1200" b="0">
                <a:solidFill>
                  <a:srgbClr val="1A2332"/>
                </a:solidFill>
                <a:latin typeface="Calibri"/>
              </a:rPr>
              <a:t>/api/materiels/{id}/</a:t>
            </a:r>
          </a:p>
        </p:txBody>
      </p:sp>
      <p:sp>
        <p:nvSpPr>
          <p:cNvPr id="27" name="Rectangle 26"/>
          <p:cNvSpPr/>
          <p:nvPr/>
        </p:nvSpPr>
        <p:spPr>
          <a:xfrm>
            <a:off x="5669280" y="2514600"/>
            <a:ext cx="6400800" cy="4114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760720" y="2514600"/>
            <a:ext cx="6309360" cy="411480"/>
          </a:xfrm>
          <a:prstGeom prst="rect">
            <a:avLst/>
          </a:prstGeom>
          <a:noFill/>
        </p:spPr>
        <p:txBody>
          <a:bodyPr wrap="square" lIns="0" rIns="0" tIns="0" bIns="0" anchor="ctr">
            <a:spAutoFit/>
          </a:bodyPr>
          <a:lstStyle/>
          <a:p>
            <a:pPr algn="l"/>
            <a:r>
              <a:rPr sz="1200" b="0">
                <a:solidFill>
                  <a:srgbClr val="1A2332"/>
                </a:solidFill>
                <a:latin typeface="Calibri"/>
              </a:rPr>
              <a:t>Détail d'un matériel</a:t>
            </a:r>
          </a:p>
        </p:txBody>
      </p:sp>
      <p:sp>
        <p:nvSpPr>
          <p:cNvPr id="29" name="Rectangle 28"/>
          <p:cNvSpPr/>
          <p:nvPr/>
        </p:nvSpPr>
        <p:spPr>
          <a:xfrm>
            <a:off x="640080" y="2926080"/>
            <a:ext cx="137160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2926080"/>
            <a:ext cx="1280160" cy="411480"/>
          </a:xfrm>
          <a:prstGeom prst="rect">
            <a:avLst/>
          </a:prstGeom>
          <a:noFill/>
        </p:spPr>
        <p:txBody>
          <a:bodyPr wrap="square" lIns="0" rIns="0" tIns="0" bIns="0" anchor="ctr">
            <a:spAutoFit/>
          </a:bodyPr>
          <a:lstStyle/>
          <a:p>
            <a:pPr algn="ctr"/>
            <a:r>
              <a:rPr sz="1200" b="0">
                <a:solidFill>
                  <a:srgbClr val="1A2332"/>
                </a:solidFill>
                <a:latin typeface="Calibri"/>
              </a:rPr>
              <a:t>POST</a:t>
            </a:r>
          </a:p>
        </p:txBody>
      </p:sp>
      <p:sp>
        <p:nvSpPr>
          <p:cNvPr id="31" name="Rectangle 30"/>
          <p:cNvSpPr/>
          <p:nvPr/>
        </p:nvSpPr>
        <p:spPr>
          <a:xfrm>
            <a:off x="2011680" y="2926080"/>
            <a:ext cx="365760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103120" y="2926080"/>
            <a:ext cx="3566160" cy="411480"/>
          </a:xfrm>
          <a:prstGeom prst="rect">
            <a:avLst/>
          </a:prstGeom>
          <a:noFill/>
        </p:spPr>
        <p:txBody>
          <a:bodyPr wrap="square" lIns="0" rIns="0" tIns="0" bIns="0" anchor="ctr">
            <a:spAutoFit/>
          </a:bodyPr>
          <a:lstStyle/>
          <a:p>
            <a:pPr algn="l"/>
            <a:r>
              <a:rPr sz="1200" b="0">
                <a:solidFill>
                  <a:srgbClr val="1A2332"/>
                </a:solidFill>
                <a:latin typeface="Calibri"/>
              </a:rPr>
              <a:t>/api/demandes/</a:t>
            </a:r>
          </a:p>
        </p:txBody>
      </p:sp>
      <p:sp>
        <p:nvSpPr>
          <p:cNvPr id="33" name="Rectangle 32"/>
          <p:cNvSpPr/>
          <p:nvPr/>
        </p:nvSpPr>
        <p:spPr>
          <a:xfrm>
            <a:off x="5669280" y="2926080"/>
            <a:ext cx="640080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760720" y="2926080"/>
            <a:ext cx="6309360" cy="411480"/>
          </a:xfrm>
          <a:prstGeom prst="rect">
            <a:avLst/>
          </a:prstGeom>
          <a:noFill/>
        </p:spPr>
        <p:txBody>
          <a:bodyPr wrap="square" lIns="0" rIns="0" tIns="0" bIns="0" anchor="ctr">
            <a:spAutoFit/>
          </a:bodyPr>
          <a:lstStyle/>
          <a:p>
            <a:pPr algn="l"/>
            <a:r>
              <a:rPr sz="1200" b="0">
                <a:solidFill>
                  <a:srgbClr val="1A2332"/>
                </a:solidFill>
                <a:latin typeface="Calibri"/>
              </a:rPr>
              <a:t>Créer une demande</a:t>
            </a:r>
          </a:p>
        </p:txBody>
      </p:sp>
      <p:sp>
        <p:nvSpPr>
          <p:cNvPr id="35" name="Rectangle 34"/>
          <p:cNvSpPr/>
          <p:nvPr/>
        </p:nvSpPr>
        <p:spPr>
          <a:xfrm>
            <a:off x="640080" y="3337560"/>
            <a:ext cx="1371600" cy="4114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3337560"/>
            <a:ext cx="1280160" cy="411480"/>
          </a:xfrm>
          <a:prstGeom prst="rect">
            <a:avLst/>
          </a:prstGeom>
          <a:noFill/>
        </p:spPr>
        <p:txBody>
          <a:bodyPr wrap="square" lIns="0" rIns="0" tIns="0" bIns="0" anchor="ctr">
            <a:spAutoFit/>
          </a:bodyPr>
          <a:lstStyle/>
          <a:p>
            <a:pPr algn="ctr"/>
            <a:r>
              <a:rPr sz="1200" b="0">
                <a:solidFill>
                  <a:srgbClr val="1A2332"/>
                </a:solidFill>
                <a:latin typeface="Calibri"/>
              </a:rPr>
              <a:t>GET</a:t>
            </a:r>
          </a:p>
        </p:txBody>
      </p:sp>
      <p:sp>
        <p:nvSpPr>
          <p:cNvPr id="37" name="Rectangle 36"/>
          <p:cNvSpPr/>
          <p:nvPr/>
        </p:nvSpPr>
        <p:spPr>
          <a:xfrm>
            <a:off x="2011680" y="3337560"/>
            <a:ext cx="3657600" cy="4114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103120" y="3337560"/>
            <a:ext cx="3566160" cy="411480"/>
          </a:xfrm>
          <a:prstGeom prst="rect">
            <a:avLst/>
          </a:prstGeom>
          <a:noFill/>
        </p:spPr>
        <p:txBody>
          <a:bodyPr wrap="square" lIns="0" rIns="0" tIns="0" bIns="0" anchor="ctr">
            <a:spAutoFit/>
          </a:bodyPr>
          <a:lstStyle/>
          <a:p>
            <a:pPr algn="l"/>
            <a:r>
              <a:rPr sz="1200" b="0">
                <a:solidFill>
                  <a:srgbClr val="1A2332"/>
                </a:solidFill>
                <a:latin typeface="Calibri"/>
              </a:rPr>
              <a:t>/api/demandes/</a:t>
            </a:r>
          </a:p>
        </p:txBody>
      </p:sp>
      <p:sp>
        <p:nvSpPr>
          <p:cNvPr id="39" name="Rectangle 38"/>
          <p:cNvSpPr/>
          <p:nvPr/>
        </p:nvSpPr>
        <p:spPr>
          <a:xfrm>
            <a:off x="5669280" y="3337560"/>
            <a:ext cx="6400800" cy="4114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760720" y="3337560"/>
            <a:ext cx="6309360" cy="411480"/>
          </a:xfrm>
          <a:prstGeom prst="rect">
            <a:avLst/>
          </a:prstGeom>
          <a:noFill/>
        </p:spPr>
        <p:txBody>
          <a:bodyPr wrap="square" lIns="0" rIns="0" tIns="0" bIns="0" anchor="ctr">
            <a:spAutoFit/>
          </a:bodyPr>
          <a:lstStyle/>
          <a:p>
            <a:pPr algn="l"/>
            <a:r>
              <a:rPr sz="1200" b="0">
                <a:solidFill>
                  <a:srgbClr val="1A2332"/>
                </a:solidFill>
                <a:latin typeface="Calibri"/>
              </a:rPr>
              <a:t>Mes demandes (filtre rôle)</a:t>
            </a:r>
          </a:p>
        </p:txBody>
      </p:sp>
      <p:sp>
        <p:nvSpPr>
          <p:cNvPr id="41" name="Rectangle 40"/>
          <p:cNvSpPr/>
          <p:nvPr/>
        </p:nvSpPr>
        <p:spPr>
          <a:xfrm>
            <a:off x="640080" y="3749040"/>
            <a:ext cx="137160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3749040"/>
            <a:ext cx="1280160" cy="411480"/>
          </a:xfrm>
          <a:prstGeom prst="rect">
            <a:avLst/>
          </a:prstGeom>
          <a:noFill/>
        </p:spPr>
        <p:txBody>
          <a:bodyPr wrap="square" lIns="0" rIns="0" tIns="0" bIns="0" anchor="ctr">
            <a:spAutoFit/>
          </a:bodyPr>
          <a:lstStyle/>
          <a:p>
            <a:pPr algn="ctr"/>
            <a:r>
              <a:rPr sz="1200" b="0">
                <a:solidFill>
                  <a:srgbClr val="1A2332"/>
                </a:solidFill>
                <a:latin typeface="Calibri"/>
              </a:rPr>
              <a:t>PATCH</a:t>
            </a:r>
          </a:p>
        </p:txBody>
      </p:sp>
      <p:sp>
        <p:nvSpPr>
          <p:cNvPr id="43" name="Rectangle 42"/>
          <p:cNvSpPr/>
          <p:nvPr/>
        </p:nvSpPr>
        <p:spPr>
          <a:xfrm>
            <a:off x="2011680" y="3749040"/>
            <a:ext cx="365760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103120" y="3749040"/>
            <a:ext cx="3566160" cy="411480"/>
          </a:xfrm>
          <a:prstGeom prst="rect">
            <a:avLst/>
          </a:prstGeom>
          <a:noFill/>
        </p:spPr>
        <p:txBody>
          <a:bodyPr wrap="square" lIns="0" rIns="0" tIns="0" bIns="0" anchor="ctr">
            <a:spAutoFit/>
          </a:bodyPr>
          <a:lstStyle/>
          <a:p>
            <a:pPr algn="l"/>
            <a:r>
              <a:rPr sz="1200" b="0">
                <a:solidFill>
                  <a:srgbClr val="1A2332"/>
                </a:solidFill>
                <a:latin typeface="Calibri"/>
              </a:rPr>
              <a:t>/api/demandes/{id}/</a:t>
            </a:r>
          </a:p>
        </p:txBody>
      </p:sp>
      <p:sp>
        <p:nvSpPr>
          <p:cNvPr id="45" name="Rectangle 44"/>
          <p:cNvSpPr/>
          <p:nvPr/>
        </p:nvSpPr>
        <p:spPr>
          <a:xfrm>
            <a:off x="5669280" y="3749040"/>
            <a:ext cx="640080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760720" y="3749040"/>
            <a:ext cx="6309360" cy="411480"/>
          </a:xfrm>
          <a:prstGeom prst="rect">
            <a:avLst/>
          </a:prstGeom>
          <a:noFill/>
        </p:spPr>
        <p:txBody>
          <a:bodyPr wrap="square" lIns="0" rIns="0" tIns="0" bIns="0" anchor="ctr">
            <a:spAutoFit/>
          </a:bodyPr>
          <a:lstStyle/>
          <a:p>
            <a:pPr algn="l"/>
            <a:r>
              <a:rPr sz="1200" b="0">
                <a:solidFill>
                  <a:srgbClr val="1A2332"/>
                </a:solidFill>
                <a:latin typeface="Calibri"/>
              </a:rPr>
              <a:t>Valider/refuser (technicien)</a:t>
            </a:r>
          </a:p>
        </p:txBody>
      </p:sp>
      <p:sp>
        <p:nvSpPr>
          <p:cNvPr id="47" name="Rectangle 46"/>
          <p:cNvSpPr/>
          <p:nvPr/>
        </p:nvSpPr>
        <p:spPr>
          <a:xfrm>
            <a:off x="640080" y="4160520"/>
            <a:ext cx="1371600" cy="4114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31520" y="4160520"/>
            <a:ext cx="1280160" cy="411480"/>
          </a:xfrm>
          <a:prstGeom prst="rect">
            <a:avLst/>
          </a:prstGeom>
          <a:noFill/>
        </p:spPr>
        <p:txBody>
          <a:bodyPr wrap="square" lIns="0" rIns="0" tIns="0" bIns="0" anchor="ctr">
            <a:spAutoFit/>
          </a:bodyPr>
          <a:lstStyle/>
          <a:p>
            <a:pPr algn="ctr"/>
            <a:r>
              <a:rPr sz="1200" b="0">
                <a:solidFill>
                  <a:srgbClr val="1A2332"/>
                </a:solidFill>
                <a:latin typeface="Calibri"/>
              </a:rPr>
              <a:t>POST</a:t>
            </a:r>
          </a:p>
        </p:txBody>
      </p:sp>
      <p:sp>
        <p:nvSpPr>
          <p:cNvPr id="49" name="Rectangle 48"/>
          <p:cNvSpPr/>
          <p:nvPr/>
        </p:nvSpPr>
        <p:spPr>
          <a:xfrm>
            <a:off x="2011680" y="4160520"/>
            <a:ext cx="3657600" cy="4114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103120" y="4160520"/>
            <a:ext cx="3566160" cy="411480"/>
          </a:xfrm>
          <a:prstGeom prst="rect">
            <a:avLst/>
          </a:prstGeom>
          <a:noFill/>
        </p:spPr>
        <p:txBody>
          <a:bodyPr wrap="square" lIns="0" rIns="0" tIns="0" bIns="0" anchor="ctr">
            <a:spAutoFit/>
          </a:bodyPr>
          <a:lstStyle/>
          <a:p>
            <a:pPr algn="l"/>
            <a:r>
              <a:rPr sz="1200" b="0">
                <a:solidFill>
                  <a:srgbClr val="1A2332"/>
                </a:solidFill>
                <a:latin typeface="Calibri"/>
              </a:rPr>
              <a:t>/api/restitutions/</a:t>
            </a:r>
          </a:p>
        </p:txBody>
      </p:sp>
      <p:sp>
        <p:nvSpPr>
          <p:cNvPr id="51" name="Rectangle 50"/>
          <p:cNvSpPr/>
          <p:nvPr/>
        </p:nvSpPr>
        <p:spPr>
          <a:xfrm>
            <a:off x="5669280" y="4160520"/>
            <a:ext cx="6400800" cy="4114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760720" y="4160520"/>
            <a:ext cx="6309360" cy="411480"/>
          </a:xfrm>
          <a:prstGeom prst="rect">
            <a:avLst/>
          </a:prstGeom>
          <a:noFill/>
        </p:spPr>
        <p:txBody>
          <a:bodyPr wrap="square" lIns="0" rIns="0" tIns="0" bIns="0" anchor="ctr">
            <a:spAutoFit/>
          </a:bodyPr>
          <a:lstStyle/>
          <a:p>
            <a:pPr algn="l"/>
            <a:r>
              <a:rPr sz="1200" b="0">
                <a:solidFill>
                  <a:srgbClr val="1A2332"/>
                </a:solidFill>
                <a:latin typeface="Calibri"/>
              </a:rPr>
              <a:t>Enregistrer restitution</a:t>
            </a:r>
          </a:p>
        </p:txBody>
      </p:sp>
      <p:sp>
        <p:nvSpPr>
          <p:cNvPr id="53" name="Rectangle 52"/>
          <p:cNvSpPr/>
          <p:nvPr/>
        </p:nvSpPr>
        <p:spPr>
          <a:xfrm>
            <a:off x="640080" y="4572000"/>
            <a:ext cx="137160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31520" y="4572000"/>
            <a:ext cx="1280160" cy="411480"/>
          </a:xfrm>
          <a:prstGeom prst="rect">
            <a:avLst/>
          </a:prstGeom>
          <a:noFill/>
        </p:spPr>
        <p:txBody>
          <a:bodyPr wrap="square" lIns="0" rIns="0" tIns="0" bIns="0" anchor="ctr">
            <a:spAutoFit/>
          </a:bodyPr>
          <a:lstStyle/>
          <a:p>
            <a:pPr algn="ctr"/>
            <a:r>
              <a:rPr sz="1200" b="0">
                <a:solidFill>
                  <a:srgbClr val="1A2332"/>
                </a:solidFill>
                <a:latin typeface="Calibri"/>
              </a:rPr>
              <a:t>POST</a:t>
            </a:r>
          </a:p>
        </p:txBody>
      </p:sp>
      <p:sp>
        <p:nvSpPr>
          <p:cNvPr id="55" name="Rectangle 54"/>
          <p:cNvSpPr/>
          <p:nvPr/>
        </p:nvSpPr>
        <p:spPr>
          <a:xfrm>
            <a:off x="2011680" y="4572000"/>
            <a:ext cx="365760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103120" y="4572000"/>
            <a:ext cx="3566160" cy="411480"/>
          </a:xfrm>
          <a:prstGeom prst="rect">
            <a:avLst/>
          </a:prstGeom>
          <a:noFill/>
        </p:spPr>
        <p:txBody>
          <a:bodyPr wrap="square" lIns="0" rIns="0" tIns="0" bIns="0" anchor="ctr">
            <a:spAutoFit/>
          </a:bodyPr>
          <a:lstStyle/>
          <a:p>
            <a:pPr algn="l"/>
            <a:r>
              <a:rPr sz="1200" b="0">
                <a:solidFill>
                  <a:srgbClr val="1A2332"/>
                </a:solidFill>
                <a:latin typeface="Calibri"/>
              </a:rPr>
              <a:t>/api/ia/ask/</a:t>
            </a:r>
          </a:p>
        </p:txBody>
      </p:sp>
      <p:sp>
        <p:nvSpPr>
          <p:cNvPr id="57" name="Rectangle 56"/>
          <p:cNvSpPr/>
          <p:nvPr/>
        </p:nvSpPr>
        <p:spPr>
          <a:xfrm>
            <a:off x="5669280" y="4572000"/>
            <a:ext cx="6400800" cy="411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760720" y="4572000"/>
            <a:ext cx="6309360" cy="411480"/>
          </a:xfrm>
          <a:prstGeom prst="rect">
            <a:avLst/>
          </a:prstGeom>
          <a:noFill/>
        </p:spPr>
        <p:txBody>
          <a:bodyPr wrap="square" lIns="0" rIns="0" tIns="0" bIns="0" anchor="ctr">
            <a:spAutoFit/>
          </a:bodyPr>
          <a:lstStyle/>
          <a:p>
            <a:pPr algn="l"/>
            <a:r>
              <a:rPr sz="1200" b="0">
                <a:solidFill>
                  <a:srgbClr val="1A2332"/>
                </a:solidFill>
                <a:latin typeface="Calibri"/>
              </a:rPr>
              <a:t>Poser une question au chatbot</a:t>
            </a:r>
          </a:p>
        </p:txBody>
      </p:sp>
      <p:sp>
        <p:nvSpPr>
          <p:cNvPr id="59" name="Rectangle 58"/>
          <p:cNvSpPr/>
          <p:nvPr/>
        </p:nvSpPr>
        <p:spPr>
          <a:xfrm>
            <a:off x="640080" y="4983480"/>
            <a:ext cx="1371600" cy="4114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31520" y="4983480"/>
            <a:ext cx="1280160" cy="411480"/>
          </a:xfrm>
          <a:prstGeom prst="rect">
            <a:avLst/>
          </a:prstGeom>
          <a:noFill/>
        </p:spPr>
        <p:txBody>
          <a:bodyPr wrap="square" lIns="0" rIns="0" tIns="0" bIns="0" anchor="ctr">
            <a:spAutoFit/>
          </a:bodyPr>
          <a:lstStyle/>
          <a:p>
            <a:pPr algn="ctr"/>
            <a:r>
              <a:rPr sz="1200" b="0">
                <a:solidFill>
                  <a:srgbClr val="1A2332"/>
                </a:solidFill>
                <a:latin typeface="Calibri"/>
              </a:rPr>
              <a:t>GET</a:t>
            </a:r>
          </a:p>
        </p:txBody>
      </p:sp>
      <p:sp>
        <p:nvSpPr>
          <p:cNvPr id="61" name="Rectangle 60"/>
          <p:cNvSpPr/>
          <p:nvPr/>
        </p:nvSpPr>
        <p:spPr>
          <a:xfrm>
            <a:off x="2011680" y="4983480"/>
            <a:ext cx="3657600" cy="4114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103120" y="4983480"/>
            <a:ext cx="3566160" cy="411480"/>
          </a:xfrm>
          <a:prstGeom prst="rect">
            <a:avLst/>
          </a:prstGeom>
          <a:noFill/>
        </p:spPr>
        <p:txBody>
          <a:bodyPr wrap="square" lIns="0" rIns="0" tIns="0" bIns="0" anchor="ctr">
            <a:spAutoFit/>
          </a:bodyPr>
          <a:lstStyle/>
          <a:p>
            <a:pPr algn="l"/>
            <a:r>
              <a:rPr sz="1200" b="0">
                <a:solidFill>
                  <a:srgbClr val="1A2332"/>
                </a:solidFill>
                <a:latin typeface="Calibri"/>
              </a:rPr>
              <a:t>/api/exports/demandes.csv</a:t>
            </a:r>
          </a:p>
        </p:txBody>
      </p:sp>
      <p:sp>
        <p:nvSpPr>
          <p:cNvPr id="63" name="Rectangle 62"/>
          <p:cNvSpPr/>
          <p:nvPr/>
        </p:nvSpPr>
        <p:spPr>
          <a:xfrm>
            <a:off x="5669280" y="4983480"/>
            <a:ext cx="6400800" cy="41148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760720" y="4983480"/>
            <a:ext cx="6309360" cy="411480"/>
          </a:xfrm>
          <a:prstGeom prst="rect">
            <a:avLst/>
          </a:prstGeom>
          <a:noFill/>
        </p:spPr>
        <p:txBody>
          <a:bodyPr wrap="square" lIns="0" rIns="0" tIns="0" bIns="0" anchor="ctr">
            <a:spAutoFit/>
          </a:bodyPr>
          <a:lstStyle/>
          <a:p>
            <a:pPr algn="l"/>
            <a:r>
              <a:rPr sz="1200" b="0">
                <a:solidFill>
                  <a:srgbClr val="1A2332"/>
                </a:solidFill>
                <a:latin typeface="Calibri"/>
              </a:rPr>
              <a:t>Export CSV admin</a:t>
            </a:r>
          </a:p>
        </p:txBody>
      </p:sp>
      <p:sp>
        <p:nvSpPr>
          <p:cNvPr id="65" name="Rectangle 64"/>
          <p:cNvSpPr/>
          <p:nvPr/>
        </p:nvSpPr>
        <p:spPr>
          <a:xfrm>
            <a:off x="0" y="6400800"/>
            <a:ext cx="12191695" cy="4572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65760" y="6473952"/>
            <a:ext cx="7315200" cy="320040"/>
          </a:xfrm>
          <a:prstGeom prst="rect">
            <a:avLst/>
          </a:prstGeom>
          <a:noFill/>
        </p:spPr>
        <p:txBody>
          <a:bodyPr wrap="square" lIns="0" rIns="0" tIns="0" bIns="0" anchor="t">
            <a:spAutoFit/>
          </a:bodyPr>
          <a:lstStyle/>
          <a:p>
            <a:pPr algn="l"/>
            <a:r>
              <a:rPr sz="1000" b="0">
                <a:solidFill>
                  <a:srgbClr val="6C757D"/>
                </a:solidFill>
                <a:latin typeface="Calibri"/>
              </a:rPr>
              <a:t>Hanne &amp; Kounta — Gestion Emprunt Matériel Topographique — UFR SI UIDT</a:t>
            </a:r>
          </a:p>
        </p:txBody>
      </p:sp>
      <p:sp>
        <p:nvSpPr>
          <p:cNvPr id="67" name="TextBox 66"/>
          <p:cNvSpPr txBox="1"/>
          <p:nvPr/>
        </p:nvSpPr>
        <p:spPr>
          <a:xfrm>
            <a:off x="10515600" y="6473952"/>
            <a:ext cx="1371600" cy="320040"/>
          </a:xfrm>
          <a:prstGeom prst="rect">
            <a:avLst/>
          </a:prstGeom>
          <a:noFill/>
        </p:spPr>
        <p:txBody>
          <a:bodyPr wrap="square" lIns="0" rIns="0" tIns="0" bIns="0" anchor="t">
            <a:spAutoFit/>
          </a:bodyPr>
          <a:lstStyle/>
          <a:p>
            <a:pPr algn="r"/>
            <a:r>
              <a:rPr sz="1000" b="0">
                <a:solidFill>
                  <a:srgbClr val="6C757D"/>
                </a:solidFill>
                <a:latin typeface="Calibri"/>
              </a:rPr>
              <a:t>10 / 22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10515600" cy="457200"/>
          </a:xfrm>
          <a:prstGeom prst="rect">
            <a:avLst/>
          </a:prstGeom>
          <a:noFill/>
        </p:spPr>
        <p:txBody>
          <a:bodyPr wrap="square" lIns="0" rIns="0" tIns="0" bIns="0" anchor="t">
            <a:spAutoFit/>
          </a:bodyPr>
          <a:lstStyle/>
          <a:p>
            <a:pPr algn="l"/>
            <a:r>
              <a:rPr sz="2400" b="1">
                <a:solidFill>
                  <a:srgbClr val="FFFFFF"/>
                </a:solidFill>
                <a:latin typeface="Calibri"/>
              </a:rPr>
              <a:t>6. Frontend — Templates + Bootstrap</a:t>
            </a:r>
          </a:p>
        </p:txBody>
      </p:sp>
      <p:sp>
        <p:nvSpPr>
          <p:cNvPr id="4" name="TextBox 3"/>
          <p:cNvSpPr txBox="1"/>
          <p:nvPr/>
        </p:nvSpPr>
        <p:spPr>
          <a:xfrm>
            <a:off x="10515600" y="228600"/>
            <a:ext cx="1371600" cy="457200"/>
          </a:xfrm>
          <a:prstGeom prst="rect">
            <a:avLst/>
          </a:prstGeom>
          <a:noFill/>
        </p:spPr>
        <p:txBody>
          <a:bodyPr wrap="square" lIns="0" rIns="0" tIns="0" bIns="0" anchor="t">
            <a:spAutoFit/>
          </a:bodyPr>
          <a:lstStyle/>
          <a:p>
            <a:pPr algn="r"/>
            <a:r>
              <a:rPr sz="1200" b="0">
                <a:solidFill>
                  <a:srgbClr val="FFFFFF"/>
                </a:solidFill>
                <a:latin typeface="Calibri"/>
              </a:rPr>
              <a:t>11/22</a:t>
            </a:r>
          </a:p>
        </p:txBody>
      </p:sp>
      <p:sp>
        <p:nvSpPr>
          <p:cNvPr id="5" name="TextBox 4"/>
          <p:cNvSpPr txBox="1"/>
          <p:nvPr/>
        </p:nvSpPr>
        <p:spPr>
          <a:xfrm>
            <a:off x="640080" y="1188720"/>
            <a:ext cx="10972800" cy="457200"/>
          </a:xfrm>
          <a:prstGeom prst="rect">
            <a:avLst/>
          </a:prstGeom>
          <a:noFill/>
        </p:spPr>
        <p:txBody>
          <a:bodyPr wrap="square" lIns="0" rIns="0" tIns="0" bIns="0" anchor="t">
            <a:spAutoFit/>
          </a:bodyPr>
          <a:lstStyle/>
          <a:p>
            <a:pPr algn="l"/>
            <a:r>
              <a:rPr sz="2000" b="1">
                <a:solidFill>
                  <a:srgbClr val="0D6EFD"/>
                </a:solidFill>
                <a:latin typeface="Calibri"/>
              </a:rPr>
              <a:t>Pages réalisées</a:t>
            </a:r>
          </a:p>
        </p:txBody>
      </p:sp>
      <p:sp>
        <p:nvSpPr>
          <p:cNvPr id="6" name="TextBox 5"/>
          <p:cNvSpPr txBox="1"/>
          <p:nvPr/>
        </p:nvSpPr>
        <p:spPr>
          <a:xfrm>
            <a:off x="640080" y="1737360"/>
            <a:ext cx="5486400" cy="4572000"/>
          </a:xfrm>
          <a:prstGeom prst="rect">
            <a:avLst/>
          </a:prstGeom>
          <a:noFill/>
        </p:spPr>
        <p:txBody>
          <a:bodyPr wrap="square">
            <a:spAutoFit/>
          </a:bodyPr>
          <a:lstStyle/>
          <a:p>
            <a:pPr algn="l">
              <a:lnSpc>
                <a:spcPct val="130000"/>
              </a:lnSpc>
            </a:pPr>
            <a:r>
              <a:rPr sz="1500">
                <a:solidFill>
                  <a:srgbClr val="1A2332"/>
                </a:solidFill>
                <a:latin typeface="Calibri"/>
              </a:rPr>
              <a:t>• Login / inscription</a:t>
            </a:r>
          </a:p>
          <a:p>
            <a:pPr algn="l">
              <a:lnSpc>
                <a:spcPct val="130000"/>
              </a:lnSpc>
            </a:pPr>
            <a:r>
              <a:rPr sz="1500">
                <a:solidFill>
                  <a:srgbClr val="1A2332"/>
                </a:solidFill>
                <a:latin typeface="Calibri"/>
              </a:rPr>
              <a:t>• Tableau de bord (selon rôle)</a:t>
            </a:r>
          </a:p>
          <a:p>
            <a:pPr algn="l">
              <a:lnSpc>
                <a:spcPct val="130000"/>
              </a:lnSpc>
            </a:pPr>
            <a:r>
              <a:rPr sz="1500">
                <a:solidFill>
                  <a:srgbClr val="1A2332"/>
                </a:solidFill>
                <a:latin typeface="Calibri"/>
              </a:rPr>
              <a:t>• Catalogue matériel (cartes Bootstrap)</a:t>
            </a:r>
          </a:p>
          <a:p>
            <a:pPr algn="l">
              <a:lnSpc>
                <a:spcPct val="130000"/>
              </a:lnSpc>
            </a:pPr>
            <a:r>
              <a:rPr sz="1500">
                <a:solidFill>
                  <a:srgbClr val="1A2332"/>
                </a:solidFill>
                <a:latin typeface="Calibri"/>
              </a:rPr>
              <a:t>• Formulaire de demande (date picker)</a:t>
            </a:r>
          </a:p>
          <a:p>
            <a:pPr algn="l">
              <a:lnSpc>
                <a:spcPct val="130000"/>
              </a:lnSpc>
            </a:pPr>
            <a:r>
              <a:rPr sz="1500">
                <a:solidFill>
                  <a:srgbClr val="1A2332"/>
                </a:solidFill>
                <a:latin typeface="Calibri"/>
              </a:rPr>
              <a:t>• Suivi de mes demandes</a:t>
            </a:r>
          </a:p>
          <a:p>
            <a:pPr algn="l">
              <a:lnSpc>
                <a:spcPct val="130000"/>
              </a:lnSpc>
            </a:pPr>
            <a:r>
              <a:rPr sz="1500">
                <a:solidFill>
                  <a:srgbClr val="1A2332"/>
                </a:solidFill>
                <a:latin typeface="Calibri"/>
              </a:rPr>
              <a:t>• Validation (technicien)</a:t>
            </a:r>
          </a:p>
          <a:p>
            <a:pPr algn="l">
              <a:lnSpc>
                <a:spcPct val="130000"/>
              </a:lnSpc>
            </a:pPr>
            <a:r>
              <a:rPr sz="1500">
                <a:solidFill>
                  <a:srgbClr val="1A2332"/>
                </a:solidFill>
                <a:latin typeface="Calibri"/>
              </a:rPr>
              <a:t>• Carte Leaflet des points GPS</a:t>
            </a:r>
          </a:p>
          <a:p>
            <a:pPr algn="l">
              <a:lnSpc>
                <a:spcPct val="130000"/>
              </a:lnSpc>
            </a:pPr>
            <a:r>
              <a:rPr sz="1500">
                <a:solidFill>
                  <a:srgbClr val="1A2332"/>
                </a:solidFill>
                <a:latin typeface="Calibri"/>
              </a:rPr>
              <a:t>• Widget chatbot flottant</a:t>
            </a:r>
          </a:p>
        </p:txBody>
      </p:sp>
      <p:sp>
        <p:nvSpPr>
          <p:cNvPr id="7" name="TextBox 6"/>
          <p:cNvSpPr txBox="1"/>
          <p:nvPr/>
        </p:nvSpPr>
        <p:spPr>
          <a:xfrm>
            <a:off x="6400800" y="1188720"/>
            <a:ext cx="5486400" cy="457200"/>
          </a:xfrm>
          <a:prstGeom prst="rect">
            <a:avLst/>
          </a:prstGeom>
          <a:noFill/>
        </p:spPr>
        <p:txBody>
          <a:bodyPr wrap="square" lIns="0" rIns="0" tIns="0" bIns="0" anchor="t">
            <a:spAutoFit/>
          </a:bodyPr>
          <a:lstStyle/>
          <a:p>
            <a:pPr algn="l"/>
            <a:r>
              <a:rPr sz="2000" b="1">
                <a:solidFill>
                  <a:srgbClr val="0D6EFD"/>
                </a:solidFill>
                <a:latin typeface="Calibri"/>
              </a:rPr>
              <a:t>Bonnes pratiques</a:t>
            </a:r>
          </a:p>
        </p:txBody>
      </p:sp>
      <p:sp>
        <p:nvSpPr>
          <p:cNvPr id="8" name="TextBox 7"/>
          <p:cNvSpPr txBox="1"/>
          <p:nvPr/>
        </p:nvSpPr>
        <p:spPr>
          <a:xfrm>
            <a:off x="6400800" y="1737360"/>
            <a:ext cx="5486400" cy="4572000"/>
          </a:xfrm>
          <a:prstGeom prst="rect">
            <a:avLst/>
          </a:prstGeom>
          <a:noFill/>
        </p:spPr>
        <p:txBody>
          <a:bodyPr wrap="square">
            <a:spAutoFit/>
          </a:bodyPr>
          <a:lstStyle/>
          <a:p>
            <a:pPr algn="l">
              <a:lnSpc>
                <a:spcPct val="130000"/>
              </a:lnSpc>
            </a:pPr>
            <a:r>
              <a:rPr sz="1500">
                <a:solidFill>
                  <a:srgbClr val="1A2332"/>
                </a:solidFill>
                <a:latin typeface="Calibri"/>
              </a:rPr>
              <a:t>• Responsive (mobile-first)</a:t>
            </a:r>
          </a:p>
          <a:p>
            <a:pPr algn="l">
              <a:lnSpc>
                <a:spcPct val="130000"/>
              </a:lnSpc>
            </a:pPr>
            <a:r>
              <a:rPr sz="1500">
                <a:solidFill>
                  <a:srgbClr val="1A2332"/>
                </a:solidFill>
                <a:latin typeface="Calibri"/>
              </a:rPr>
              <a:t>• Composants réutilisables (base.html)</a:t>
            </a:r>
          </a:p>
          <a:p>
            <a:pPr algn="l">
              <a:lnSpc>
                <a:spcPct val="130000"/>
              </a:lnSpc>
            </a:pPr>
            <a:r>
              <a:rPr sz="1500">
                <a:solidFill>
                  <a:srgbClr val="1A2332"/>
                </a:solidFill>
                <a:latin typeface="Calibri"/>
              </a:rPr>
              <a:t>• CSRF tokens sur tous les forms</a:t>
            </a:r>
          </a:p>
          <a:p>
            <a:pPr algn="l">
              <a:lnSpc>
                <a:spcPct val="130000"/>
              </a:lnSpc>
            </a:pPr>
            <a:r>
              <a:rPr sz="1500">
                <a:solidFill>
                  <a:srgbClr val="1A2332"/>
                </a:solidFill>
                <a:latin typeface="Calibri"/>
              </a:rPr>
              <a:t>• Messages flash (django.contrib.messages)</a:t>
            </a:r>
          </a:p>
          <a:p>
            <a:pPr algn="l">
              <a:lnSpc>
                <a:spcPct val="130000"/>
              </a:lnSpc>
            </a:pPr>
            <a:r>
              <a:rPr sz="1500">
                <a:solidFill>
                  <a:srgbClr val="1A2332"/>
                </a:solidFill>
                <a:latin typeface="Calibri"/>
              </a:rPr>
              <a:t>• Pagination (20 items / page)</a:t>
            </a:r>
          </a:p>
          <a:p>
            <a:pPr algn="l">
              <a:lnSpc>
                <a:spcPct val="130000"/>
              </a:lnSpc>
            </a:pPr>
            <a:r>
              <a:rPr sz="1500">
                <a:solidFill>
                  <a:srgbClr val="1A2332"/>
                </a:solidFill>
                <a:latin typeface="Calibri"/>
              </a:rPr>
              <a:t>• Validation côté serveur ET client</a:t>
            </a:r>
          </a:p>
        </p:txBody>
      </p:sp>
      <p:sp>
        <p:nvSpPr>
          <p:cNvPr id="9" name="Rectangle 8"/>
          <p:cNvSpPr/>
          <p:nvPr/>
        </p:nvSpPr>
        <p:spPr>
          <a:xfrm>
            <a:off x="0" y="6400800"/>
            <a:ext cx="12191695" cy="4572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73952"/>
            <a:ext cx="7315200" cy="320040"/>
          </a:xfrm>
          <a:prstGeom prst="rect">
            <a:avLst/>
          </a:prstGeom>
          <a:noFill/>
        </p:spPr>
        <p:txBody>
          <a:bodyPr wrap="square" lIns="0" rIns="0" tIns="0" bIns="0" anchor="t">
            <a:spAutoFit/>
          </a:bodyPr>
          <a:lstStyle/>
          <a:p>
            <a:pPr algn="l"/>
            <a:r>
              <a:rPr sz="1000" b="0">
                <a:solidFill>
                  <a:srgbClr val="6C757D"/>
                </a:solidFill>
                <a:latin typeface="Calibri"/>
              </a:rPr>
              <a:t>Hanne &amp; Kounta — Gestion Emprunt Matériel Topographique — UFR SI UIDT</a:t>
            </a:r>
          </a:p>
        </p:txBody>
      </p:sp>
      <p:sp>
        <p:nvSpPr>
          <p:cNvPr id="11" name="TextBox 10"/>
          <p:cNvSpPr txBox="1"/>
          <p:nvPr/>
        </p:nvSpPr>
        <p:spPr>
          <a:xfrm>
            <a:off x="10515600" y="6473952"/>
            <a:ext cx="1371600" cy="320040"/>
          </a:xfrm>
          <a:prstGeom prst="rect">
            <a:avLst/>
          </a:prstGeom>
          <a:noFill/>
        </p:spPr>
        <p:txBody>
          <a:bodyPr wrap="square" lIns="0" rIns="0" tIns="0" bIns="0" anchor="t">
            <a:spAutoFit/>
          </a:bodyPr>
          <a:lstStyle/>
          <a:p>
            <a:pPr algn="r"/>
            <a:r>
              <a:rPr sz="1000" b="0">
                <a:solidFill>
                  <a:srgbClr val="6C757D"/>
                </a:solidFill>
                <a:latin typeface="Calibri"/>
              </a:rPr>
              <a:t>11 / 22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10515600" cy="457200"/>
          </a:xfrm>
          <a:prstGeom prst="rect">
            <a:avLst/>
          </a:prstGeom>
          <a:noFill/>
        </p:spPr>
        <p:txBody>
          <a:bodyPr wrap="square" lIns="0" rIns="0" tIns="0" bIns="0" anchor="t">
            <a:spAutoFit/>
          </a:bodyPr>
          <a:lstStyle/>
          <a:p>
            <a:pPr algn="l"/>
            <a:r>
              <a:rPr sz="2400" b="1">
                <a:solidFill>
                  <a:srgbClr val="FFFFFF"/>
                </a:solidFill>
                <a:latin typeface="Calibri"/>
              </a:rPr>
              <a:t>6. Cartographie Leaflet.js</a:t>
            </a:r>
          </a:p>
        </p:txBody>
      </p:sp>
      <p:sp>
        <p:nvSpPr>
          <p:cNvPr id="4" name="TextBox 3"/>
          <p:cNvSpPr txBox="1"/>
          <p:nvPr/>
        </p:nvSpPr>
        <p:spPr>
          <a:xfrm>
            <a:off x="10515600" y="228600"/>
            <a:ext cx="1371600" cy="457200"/>
          </a:xfrm>
          <a:prstGeom prst="rect">
            <a:avLst/>
          </a:prstGeom>
          <a:noFill/>
        </p:spPr>
        <p:txBody>
          <a:bodyPr wrap="square" lIns="0" rIns="0" tIns="0" bIns="0" anchor="t">
            <a:spAutoFit/>
          </a:bodyPr>
          <a:lstStyle/>
          <a:p>
            <a:pPr algn="r"/>
            <a:r>
              <a:rPr sz="1200" b="0">
                <a:solidFill>
                  <a:srgbClr val="FFFFFF"/>
                </a:solidFill>
                <a:latin typeface="Calibri"/>
              </a:rPr>
              <a:t>12/22</a:t>
            </a:r>
          </a:p>
        </p:txBody>
      </p:sp>
      <p:sp>
        <p:nvSpPr>
          <p:cNvPr id="5" name="TextBox 4"/>
          <p:cNvSpPr txBox="1"/>
          <p:nvPr/>
        </p:nvSpPr>
        <p:spPr>
          <a:xfrm>
            <a:off x="640080" y="1188720"/>
            <a:ext cx="10972800" cy="457200"/>
          </a:xfrm>
          <a:prstGeom prst="rect">
            <a:avLst/>
          </a:prstGeom>
          <a:noFill/>
        </p:spPr>
        <p:txBody>
          <a:bodyPr wrap="square" lIns="0" rIns="0" tIns="0" bIns="0" anchor="t">
            <a:spAutoFit/>
          </a:bodyPr>
          <a:lstStyle/>
          <a:p>
            <a:pPr algn="l"/>
            <a:r>
              <a:rPr sz="1800" b="0">
                <a:solidFill>
                  <a:srgbClr val="0A3D91"/>
                </a:solidFill>
                <a:latin typeface="Calibri"/>
              </a:rPr>
              <a:t>Visualisation des points GPS levés sur le terrain</a:t>
            </a:r>
          </a:p>
        </p:txBody>
      </p:sp>
      <p:sp>
        <p:nvSpPr>
          <p:cNvPr id="6" name="TextBox 5"/>
          <p:cNvSpPr txBox="1"/>
          <p:nvPr/>
        </p:nvSpPr>
        <p:spPr>
          <a:xfrm>
            <a:off x="640080" y="1828800"/>
            <a:ext cx="5486400" cy="4572000"/>
          </a:xfrm>
          <a:prstGeom prst="rect">
            <a:avLst/>
          </a:prstGeom>
          <a:noFill/>
        </p:spPr>
        <p:txBody>
          <a:bodyPr wrap="square">
            <a:spAutoFit/>
          </a:bodyPr>
          <a:lstStyle/>
          <a:p>
            <a:pPr algn="l">
              <a:lnSpc>
                <a:spcPct val="130000"/>
              </a:lnSpc>
            </a:pPr>
            <a:r>
              <a:rPr sz="1500">
                <a:solidFill>
                  <a:srgbClr val="1A2332"/>
                </a:solidFill>
                <a:latin typeface="Calibri"/>
              </a:rPr>
              <a:t>• Carte centrée sur Thiès (14.789, -16.926)</a:t>
            </a:r>
          </a:p>
          <a:p>
            <a:pPr algn="l">
              <a:lnSpc>
                <a:spcPct val="130000"/>
              </a:lnSpc>
            </a:pPr>
            <a:r>
              <a:rPr sz="1500">
                <a:solidFill>
                  <a:srgbClr val="1A2332"/>
                </a:solidFill>
                <a:latin typeface="Calibri"/>
              </a:rPr>
              <a:t>• Tuiles OpenStreetMap (libres)</a:t>
            </a:r>
          </a:p>
          <a:p>
            <a:pPr algn="l">
              <a:lnSpc>
                <a:spcPct val="130000"/>
              </a:lnSpc>
            </a:pPr>
            <a:r>
              <a:rPr sz="1500">
                <a:solidFill>
                  <a:srgbClr val="1A2332"/>
                </a:solidFill>
                <a:latin typeface="Calibri"/>
              </a:rPr>
              <a:t>• Marqueurs colorés selon état du point</a:t>
            </a:r>
          </a:p>
          <a:p>
            <a:pPr algn="l">
              <a:lnSpc>
                <a:spcPct val="130000"/>
              </a:lnSpc>
            </a:pPr>
            <a:r>
              <a:rPr sz="1500">
                <a:solidFill>
                  <a:srgbClr val="1A2332"/>
                </a:solidFill>
                <a:latin typeface="Calibri"/>
              </a:rPr>
              <a:t>• Popups : code matériel, date, opérateur</a:t>
            </a:r>
          </a:p>
          <a:p>
            <a:pPr algn="l">
              <a:lnSpc>
                <a:spcPct val="130000"/>
              </a:lnSpc>
            </a:pPr>
            <a:r>
              <a:rPr sz="1500">
                <a:solidFill>
                  <a:srgbClr val="1A2332"/>
                </a:solidFill>
                <a:latin typeface="Calibri"/>
              </a:rPr>
              <a:t>• Cluster automatique au zoom arrière</a:t>
            </a:r>
          </a:p>
          <a:p>
            <a:pPr algn="l">
              <a:lnSpc>
                <a:spcPct val="130000"/>
              </a:lnSpc>
            </a:pPr>
            <a:r>
              <a:rPr sz="1500">
                <a:solidFill>
                  <a:srgbClr val="1A2332"/>
                </a:solidFill>
                <a:latin typeface="Calibri"/>
              </a:rPr>
              <a:t>• Filtres par date / par TP / par étudiant</a:t>
            </a:r>
          </a:p>
        </p:txBody>
      </p:sp>
      <p:sp>
        <p:nvSpPr>
          <p:cNvPr id="7" name="Rectangle 6"/>
          <p:cNvSpPr/>
          <p:nvPr/>
        </p:nvSpPr>
        <p:spPr>
          <a:xfrm>
            <a:off x="6400800" y="1828800"/>
            <a:ext cx="5303520" cy="41148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5303520" cy="4114800"/>
          </a:xfrm>
          <a:prstGeom prst="rect">
            <a:avLst/>
          </a:prstGeom>
          <a:noFill/>
        </p:spPr>
        <p:txBody>
          <a:bodyPr wrap="square" lIns="0" rIns="0" tIns="0" bIns="0" anchor="ctr">
            <a:spAutoFit/>
          </a:bodyPr>
          <a:lstStyle/>
          <a:p>
            <a:pPr algn="ctr"/>
            <a:r>
              <a:rPr sz="2000" b="1">
                <a:solidFill>
                  <a:srgbClr val="6C757D"/>
                </a:solidFill>
                <a:latin typeface="Calibri"/>
              </a:rPr>
              <a:t>Carte Leaflet
(mock-up)
Thiès — UFR SI</a:t>
            </a:r>
          </a:p>
        </p:txBody>
      </p:sp>
      <p:sp>
        <p:nvSpPr>
          <p:cNvPr id="9" name="Rectangle 8"/>
          <p:cNvSpPr/>
          <p:nvPr/>
        </p:nvSpPr>
        <p:spPr>
          <a:xfrm>
            <a:off x="0" y="6400800"/>
            <a:ext cx="12191695" cy="4572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73952"/>
            <a:ext cx="7315200" cy="320040"/>
          </a:xfrm>
          <a:prstGeom prst="rect">
            <a:avLst/>
          </a:prstGeom>
          <a:noFill/>
        </p:spPr>
        <p:txBody>
          <a:bodyPr wrap="square" lIns="0" rIns="0" tIns="0" bIns="0" anchor="t">
            <a:spAutoFit/>
          </a:bodyPr>
          <a:lstStyle/>
          <a:p>
            <a:pPr algn="l"/>
            <a:r>
              <a:rPr sz="1000" b="0">
                <a:solidFill>
                  <a:srgbClr val="6C757D"/>
                </a:solidFill>
                <a:latin typeface="Calibri"/>
              </a:rPr>
              <a:t>Hanne &amp; Kounta — Gestion Emprunt Matériel Topographique — UFR SI UIDT</a:t>
            </a:r>
          </a:p>
        </p:txBody>
      </p:sp>
      <p:sp>
        <p:nvSpPr>
          <p:cNvPr id="11" name="TextBox 10"/>
          <p:cNvSpPr txBox="1"/>
          <p:nvPr/>
        </p:nvSpPr>
        <p:spPr>
          <a:xfrm>
            <a:off x="10515600" y="6473952"/>
            <a:ext cx="1371600" cy="320040"/>
          </a:xfrm>
          <a:prstGeom prst="rect">
            <a:avLst/>
          </a:prstGeom>
          <a:noFill/>
        </p:spPr>
        <p:txBody>
          <a:bodyPr wrap="square" lIns="0" rIns="0" tIns="0" bIns="0" anchor="t">
            <a:spAutoFit/>
          </a:bodyPr>
          <a:lstStyle/>
          <a:p>
            <a:pPr algn="r"/>
            <a:r>
              <a:rPr sz="1000" b="0">
                <a:solidFill>
                  <a:srgbClr val="6C757D"/>
                </a:solidFill>
                <a:latin typeface="Calibri"/>
              </a:rPr>
              <a:t>12 / 22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10515600" cy="457200"/>
          </a:xfrm>
          <a:prstGeom prst="rect">
            <a:avLst/>
          </a:prstGeom>
          <a:noFill/>
        </p:spPr>
        <p:txBody>
          <a:bodyPr wrap="square" lIns="0" rIns="0" tIns="0" bIns="0" anchor="t">
            <a:spAutoFit/>
          </a:bodyPr>
          <a:lstStyle/>
          <a:p>
            <a:pPr algn="l"/>
            <a:r>
              <a:rPr sz="2400" b="1">
                <a:solidFill>
                  <a:srgbClr val="FFFFFF"/>
                </a:solidFill>
                <a:latin typeface="Calibri"/>
              </a:rPr>
              <a:t>7. Corpus IA — Construction du dataset</a:t>
            </a:r>
          </a:p>
        </p:txBody>
      </p:sp>
      <p:sp>
        <p:nvSpPr>
          <p:cNvPr id="4" name="TextBox 3"/>
          <p:cNvSpPr txBox="1"/>
          <p:nvPr/>
        </p:nvSpPr>
        <p:spPr>
          <a:xfrm>
            <a:off x="10515600" y="228600"/>
            <a:ext cx="1371600" cy="457200"/>
          </a:xfrm>
          <a:prstGeom prst="rect">
            <a:avLst/>
          </a:prstGeom>
          <a:noFill/>
        </p:spPr>
        <p:txBody>
          <a:bodyPr wrap="square" lIns="0" rIns="0" tIns="0" bIns="0" anchor="t">
            <a:spAutoFit/>
          </a:bodyPr>
          <a:lstStyle/>
          <a:p>
            <a:pPr algn="r"/>
            <a:r>
              <a:rPr sz="1200" b="0">
                <a:solidFill>
                  <a:srgbClr val="FFFFFF"/>
                </a:solidFill>
                <a:latin typeface="Calibri"/>
              </a:rPr>
              <a:t>13/22</a:t>
            </a:r>
          </a:p>
        </p:txBody>
      </p:sp>
      <p:sp>
        <p:nvSpPr>
          <p:cNvPr id="5" name="TextBox 4"/>
          <p:cNvSpPr txBox="1"/>
          <p:nvPr/>
        </p:nvSpPr>
        <p:spPr>
          <a:xfrm>
            <a:off x="640080" y="1188720"/>
            <a:ext cx="10972800" cy="457200"/>
          </a:xfrm>
          <a:prstGeom prst="rect">
            <a:avLst/>
          </a:prstGeom>
          <a:noFill/>
        </p:spPr>
        <p:txBody>
          <a:bodyPr wrap="square" lIns="0" rIns="0" tIns="0" bIns="0" anchor="t">
            <a:spAutoFit/>
          </a:bodyPr>
          <a:lstStyle/>
          <a:p>
            <a:pPr algn="l"/>
            <a:r>
              <a:rPr sz="1800" b="0">
                <a:solidFill>
                  <a:srgbClr val="0A3D91"/>
                </a:solidFill>
                <a:latin typeface="Calibri"/>
              </a:rPr>
              <a:t>Domaine : topographie + géodésie + procédures UFR SI</a:t>
            </a:r>
          </a:p>
        </p:txBody>
      </p:sp>
      <p:sp>
        <p:nvSpPr>
          <p:cNvPr id="6" name="TextBox 5"/>
          <p:cNvSpPr txBox="1"/>
          <p:nvPr/>
        </p:nvSpPr>
        <p:spPr>
          <a:xfrm>
            <a:off x="640080" y="1828800"/>
            <a:ext cx="5486400" cy="4572000"/>
          </a:xfrm>
          <a:prstGeom prst="rect">
            <a:avLst/>
          </a:prstGeom>
          <a:noFill/>
        </p:spPr>
        <p:txBody>
          <a:bodyPr wrap="square">
            <a:spAutoFit/>
          </a:bodyPr>
          <a:lstStyle/>
          <a:p>
            <a:pPr algn="l">
              <a:lnSpc>
                <a:spcPct val="130000"/>
              </a:lnSpc>
            </a:pPr>
            <a:r>
              <a:rPr sz="1400">
                <a:solidFill>
                  <a:srgbClr val="1A2332"/>
                </a:solidFill>
                <a:latin typeface="Calibri"/>
              </a:rPr>
              <a:t>• 300+ paires Q/R rédigées en français</a:t>
            </a:r>
          </a:p>
          <a:p>
            <a:pPr algn="l">
              <a:lnSpc>
                <a:spcPct val="130000"/>
              </a:lnSpc>
            </a:pPr>
            <a:r>
              <a:rPr sz="1400">
                <a:solidFill>
                  <a:srgbClr val="1A2332"/>
                </a:solidFill>
                <a:latin typeface="Calibri"/>
              </a:rPr>
              <a:t>• Sources : cours L1/L2, manuels constructeurs (Leica, Trimble)</a:t>
            </a:r>
          </a:p>
          <a:p>
            <a:pPr algn="l">
              <a:lnSpc>
                <a:spcPct val="130000"/>
              </a:lnSpc>
            </a:pPr>
            <a:r>
              <a:rPr sz="1400">
                <a:solidFill>
                  <a:srgbClr val="1A2332"/>
                </a:solidFill>
                <a:latin typeface="Calibri"/>
              </a:rPr>
              <a:t>• Catégories couvertes :</a:t>
            </a:r>
          </a:p>
          <a:p>
            <a:pPr algn="l">
              <a:lnSpc>
                <a:spcPct val="130000"/>
              </a:lnSpc>
            </a:pPr>
            <a:r>
              <a:rPr sz="1400">
                <a:solidFill>
                  <a:srgbClr val="1A2332"/>
                </a:solidFill>
                <a:latin typeface="Calibri"/>
              </a:rPr>
              <a:t>•     – Procédure d'emprunt (50 Q/R)</a:t>
            </a:r>
          </a:p>
          <a:p>
            <a:pPr algn="l">
              <a:lnSpc>
                <a:spcPct val="130000"/>
              </a:lnSpc>
            </a:pPr>
            <a:r>
              <a:rPr sz="1400">
                <a:solidFill>
                  <a:srgbClr val="1A2332"/>
                </a:solidFill>
                <a:latin typeface="Calibri"/>
              </a:rPr>
              <a:t>•     – Utilisation matériel (120 Q/R)</a:t>
            </a:r>
          </a:p>
          <a:p>
            <a:pPr algn="l">
              <a:lnSpc>
                <a:spcPct val="130000"/>
              </a:lnSpc>
            </a:pPr>
            <a:r>
              <a:rPr sz="1400">
                <a:solidFill>
                  <a:srgbClr val="1A2332"/>
                </a:solidFill>
                <a:latin typeface="Calibri"/>
              </a:rPr>
              <a:t>•     – Erreurs courantes (60 Q/R)</a:t>
            </a:r>
          </a:p>
          <a:p>
            <a:pPr algn="l">
              <a:lnSpc>
                <a:spcPct val="130000"/>
              </a:lnSpc>
            </a:pPr>
            <a:r>
              <a:rPr sz="1400">
                <a:solidFill>
                  <a:srgbClr val="1A2332"/>
                </a:solidFill>
                <a:latin typeface="Calibri"/>
              </a:rPr>
              <a:t>•     – Théorie topographique (70 Q/R)</a:t>
            </a:r>
          </a:p>
        </p:txBody>
      </p:sp>
      <p:sp>
        <p:nvSpPr>
          <p:cNvPr id="7" name="TextBox 6"/>
          <p:cNvSpPr txBox="1"/>
          <p:nvPr/>
        </p:nvSpPr>
        <p:spPr>
          <a:xfrm>
            <a:off x="6400800" y="1828800"/>
            <a:ext cx="5486400" cy="365760"/>
          </a:xfrm>
          <a:prstGeom prst="rect">
            <a:avLst/>
          </a:prstGeom>
          <a:noFill/>
        </p:spPr>
        <p:txBody>
          <a:bodyPr wrap="square" lIns="0" rIns="0" tIns="0" bIns="0" anchor="t">
            <a:spAutoFit/>
          </a:bodyPr>
          <a:lstStyle/>
          <a:p>
            <a:pPr algn="l"/>
            <a:r>
              <a:rPr sz="1400" b="1">
                <a:solidFill>
                  <a:srgbClr val="0D6EFD"/>
                </a:solidFill>
                <a:latin typeface="Calibri"/>
              </a:rPr>
              <a:t>Exemple de paire Q/R :</a:t>
            </a:r>
          </a:p>
        </p:txBody>
      </p:sp>
      <p:sp>
        <p:nvSpPr>
          <p:cNvPr id="8" name="Rectangle 7"/>
          <p:cNvSpPr/>
          <p:nvPr/>
        </p:nvSpPr>
        <p:spPr>
          <a:xfrm>
            <a:off x="6400800" y="2286000"/>
            <a:ext cx="5486400" cy="36576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2468880"/>
            <a:ext cx="5120640" cy="3291840"/>
          </a:xfrm>
          <a:prstGeom prst="rect">
            <a:avLst/>
          </a:prstGeom>
          <a:noFill/>
        </p:spPr>
        <p:txBody>
          <a:bodyPr wrap="square" lIns="0" rIns="0" tIns="0" bIns="0" anchor="t">
            <a:spAutoFit/>
          </a:bodyPr>
          <a:lstStyle/>
          <a:p>
            <a:pPr algn="l"/>
            <a:r>
              <a:rPr sz="1200" b="0">
                <a:solidFill>
                  <a:srgbClr val="1A2332"/>
                </a:solidFill>
                <a:latin typeface="Calibri"/>
              </a:rPr>
              <a:t>Q : Comment réserver une station totale ?
R : Connectez-vous, ouvrez le catalogue, filtrez par type "Station totale", cliquez sur le matériel disponible, remplissez le formulaire (dates, motif), puis soumettez. Votre demande sera examinée par un technicien dans les 24h.</a:t>
            </a:r>
          </a:p>
        </p:txBody>
      </p:sp>
      <p:sp>
        <p:nvSpPr>
          <p:cNvPr id="10" name="Rectangle 9"/>
          <p:cNvSpPr/>
          <p:nvPr/>
        </p:nvSpPr>
        <p:spPr>
          <a:xfrm>
            <a:off x="0" y="6400800"/>
            <a:ext cx="12191695" cy="4572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6473952"/>
            <a:ext cx="7315200" cy="320040"/>
          </a:xfrm>
          <a:prstGeom prst="rect">
            <a:avLst/>
          </a:prstGeom>
          <a:noFill/>
        </p:spPr>
        <p:txBody>
          <a:bodyPr wrap="square" lIns="0" rIns="0" tIns="0" bIns="0" anchor="t">
            <a:spAutoFit/>
          </a:bodyPr>
          <a:lstStyle/>
          <a:p>
            <a:pPr algn="l"/>
            <a:r>
              <a:rPr sz="1000" b="0">
                <a:solidFill>
                  <a:srgbClr val="6C757D"/>
                </a:solidFill>
                <a:latin typeface="Calibri"/>
              </a:rPr>
              <a:t>Hanne &amp; Kounta — Gestion Emprunt Matériel Topographique — UFR SI UIDT</a:t>
            </a:r>
          </a:p>
        </p:txBody>
      </p:sp>
      <p:sp>
        <p:nvSpPr>
          <p:cNvPr id="12" name="TextBox 11"/>
          <p:cNvSpPr txBox="1"/>
          <p:nvPr/>
        </p:nvSpPr>
        <p:spPr>
          <a:xfrm>
            <a:off x="10515600" y="6473952"/>
            <a:ext cx="1371600" cy="320040"/>
          </a:xfrm>
          <a:prstGeom prst="rect">
            <a:avLst/>
          </a:prstGeom>
          <a:noFill/>
        </p:spPr>
        <p:txBody>
          <a:bodyPr wrap="square" lIns="0" rIns="0" tIns="0" bIns="0" anchor="t">
            <a:spAutoFit/>
          </a:bodyPr>
          <a:lstStyle/>
          <a:p>
            <a:pPr algn="r"/>
            <a:r>
              <a:rPr sz="1000" b="0">
                <a:solidFill>
                  <a:srgbClr val="6C757D"/>
                </a:solidFill>
                <a:latin typeface="Calibri"/>
              </a:rPr>
              <a:t>13 / 22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10515600" cy="457200"/>
          </a:xfrm>
          <a:prstGeom prst="rect">
            <a:avLst/>
          </a:prstGeom>
          <a:noFill/>
        </p:spPr>
        <p:txBody>
          <a:bodyPr wrap="square" lIns="0" rIns="0" tIns="0" bIns="0" anchor="t">
            <a:spAutoFit/>
          </a:bodyPr>
          <a:lstStyle/>
          <a:p>
            <a:pPr algn="l"/>
            <a:r>
              <a:rPr sz="2400" b="1">
                <a:solidFill>
                  <a:srgbClr val="FFFFFF"/>
                </a:solidFill>
                <a:latin typeface="Calibri"/>
              </a:rPr>
              <a:t>7. Dataset — Format JSONL</a:t>
            </a:r>
          </a:p>
        </p:txBody>
      </p:sp>
      <p:sp>
        <p:nvSpPr>
          <p:cNvPr id="4" name="TextBox 3"/>
          <p:cNvSpPr txBox="1"/>
          <p:nvPr/>
        </p:nvSpPr>
        <p:spPr>
          <a:xfrm>
            <a:off x="10515600" y="228600"/>
            <a:ext cx="1371600" cy="457200"/>
          </a:xfrm>
          <a:prstGeom prst="rect">
            <a:avLst/>
          </a:prstGeom>
          <a:noFill/>
        </p:spPr>
        <p:txBody>
          <a:bodyPr wrap="square" lIns="0" rIns="0" tIns="0" bIns="0" anchor="t">
            <a:spAutoFit/>
          </a:bodyPr>
          <a:lstStyle/>
          <a:p>
            <a:pPr algn="r"/>
            <a:r>
              <a:rPr sz="1200" b="0">
                <a:solidFill>
                  <a:srgbClr val="FFFFFF"/>
                </a:solidFill>
                <a:latin typeface="Calibri"/>
              </a:rPr>
              <a:t>14/22</a:t>
            </a:r>
          </a:p>
        </p:txBody>
      </p:sp>
      <p:sp>
        <p:nvSpPr>
          <p:cNvPr id="5" name="TextBox 4"/>
          <p:cNvSpPr txBox="1"/>
          <p:nvPr/>
        </p:nvSpPr>
        <p:spPr>
          <a:xfrm>
            <a:off x="640080" y="1188720"/>
            <a:ext cx="10972800" cy="457200"/>
          </a:xfrm>
          <a:prstGeom prst="rect">
            <a:avLst/>
          </a:prstGeom>
          <a:noFill/>
        </p:spPr>
        <p:txBody>
          <a:bodyPr wrap="square" lIns="0" rIns="0" tIns="0" bIns="0" anchor="t">
            <a:spAutoFit/>
          </a:bodyPr>
          <a:lstStyle/>
          <a:p>
            <a:pPr algn="l"/>
            <a:r>
              <a:rPr sz="1800" b="0">
                <a:solidFill>
                  <a:srgbClr val="0A3D91"/>
                </a:solidFill>
                <a:latin typeface="Calibri"/>
              </a:rPr>
              <a:t>Format Alpaca-style adapté au modèle Phi-3</a:t>
            </a:r>
          </a:p>
        </p:txBody>
      </p:sp>
      <p:sp>
        <p:nvSpPr>
          <p:cNvPr id="6" name="Rectangle 5"/>
          <p:cNvSpPr/>
          <p:nvPr/>
        </p:nvSpPr>
        <p:spPr>
          <a:xfrm>
            <a:off x="640080" y="1828800"/>
            <a:ext cx="10972800" cy="27432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011680"/>
            <a:ext cx="10607040" cy="2377440"/>
          </a:xfrm>
          <a:prstGeom prst="rect">
            <a:avLst/>
          </a:prstGeom>
          <a:noFill/>
        </p:spPr>
        <p:txBody>
          <a:bodyPr wrap="square" lIns="0" rIns="0" tIns="0" bIns="0" anchor="t">
            <a:spAutoFit/>
          </a:bodyPr>
          <a:lstStyle/>
          <a:p>
            <a:pPr algn="l"/>
            <a:r>
              <a:rPr sz="1300" b="0">
                <a:solidFill>
                  <a:srgbClr val="1A2332"/>
                </a:solidFill>
                <a:latin typeface="Consolas"/>
              </a:rPr>
              <a:t>{
  "instruction": "Tu es un assistant pédagogique en topographie.",
  "input": "Comment niveler une station totale ?",
  "output": "1. Mettre le trépied stable. 2. Centrer la nivelle\n              sphérique. 3. Affiner avec les vis calantes en utilisant\n              la nivelle torique électronique."
}</a:t>
            </a:r>
          </a:p>
        </p:txBody>
      </p:sp>
      <p:sp>
        <p:nvSpPr>
          <p:cNvPr id="8" name="TextBox 7"/>
          <p:cNvSpPr txBox="1"/>
          <p:nvPr/>
        </p:nvSpPr>
        <p:spPr>
          <a:xfrm>
            <a:off x="640080" y="4846320"/>
            <a:ext cx="10972800" cy="1371600"/>
          </a:xfrm>
          <a:prstGeom prst="rect">
            <a:avLst/>
          </a:prstGeom>
          <a:noFill/>
        </p:spPr>
        <p:txBody>
          <a:bodyPr wrap="square" lIns="0" rIns="0" tIns="0" bIns="0" anchor="t">
            <a:spAutoFit/>
          </a:bodyPr>
          <a:lstStyle/>
          <a:p>
            <a:pPr algn="ctr"/>
            <a:r>
              <a:rPr sz="1400" b="0">
                <a:solidFill>
                  <a:srgbClr val="6C757D"/>
                </a:solidFill>
                <a:latin typeface="Calibri"/>
              </a:rPr>
              <a:t>Total : ~310 exemples — 80% train / 10% val / 10% test
Stockage : /backend/ia/datasets/topo_qa.jsonl</a:t>
            </a:r>
          </a:p>
        </p:txBody>
      </p:sp>
      <p:sp>
        <p:nvSpPr>
          <p:cNvPr id="9" name="Rectangle 8"/>
          <p:cNvSpPr/>
          <p:nvPr/>
        </p:nvSpPr>
        <p:spPr>
          <a:xfrm>
            <a:off x="0" y="6400800"/>
            <a:ext cx="12191695" cy="4572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73952"/>
            <a:ext cx="7315200" cy="320040"/>
          </a:xfrm>
          <a:prstGeom prst="rect">
            <a:avLst/>
          </a:prstGeom>
          <a:noFill/>
        </p:spPr>
        <p:txBody>
          <a:bodyPr wrap="square" lIns="0" rIns="0" tIns="0" bIns="0" anchor="t">
            <a:spAutoFit/>
          </a:bodyPr>
          <a:lstStyle/>
          <a:p>
            <a:pPr algn="l"/>
            <a:r>
              <a:rPr sz="1000" b="0">
                <a:solidFill>
                  <a:srgbClr val="6C757D"/>
                </a:solidFill>
                <a:latin typeface="Calibri"/>
              </a:rPr>
              <a:t>Hanne &amp; Kounta — Gestion Emprunt Matériel Topographique — UFR SI UIDT</a:t>
            </a:r>
          </a:p>
        </p:txBody>
      </p:sp>
      <p:sp>
        <p:nvSpPr>
          <p:cNvPr id="11" name="TextBox 10"/>
          <p:cNvSpPr txBox="1"/>
          <p:nvPr/>
        </p:nvSpPr>
        <p:spPr>
          <a:xfrm>
            <a:off x="10515600" y="6473952"/>
            <a:ext cx="1371600" cy="320040"/>
          </a:xfrm>
          <a:prstGeom prst="rect">
            <a:avLst/>
          </a:prstGeom>
          <a:noFill/>
        </p:spPr>
        <p:txBody>
          <a:bodyPr wrap="square" lIns="0" rIns="0" tIns="0" bIns="0" anchor="t">
            <a:spAutoFit/>
          </a:bodyPr>
          <a:lstStyle/>
          <a:p>
            <a:pPr algn="r"/>
            <a:r>
              <a:rPr sz="1000" b="0">
                <a:solidFill>
                  <a:srgbClr val="6C757D"/>
                </a:solidFill>
                <a:latin typeface="Calibri"/>
              </a:rPr>
              <a:t>14 / 22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10515600" cy="457200"/>
          </a:xfrm>
          <a:prstGeom prst="rect">
            <a:avLst/>
          </a:prstGeom>
          <a:noFill/>
        </p:spPr>
        <p:txBody>
          <a:bodyPr wrap="square" lIns="0" rIns="0" tIns="0" bIns="0" anchor="t">
            <a:spAutoFit/>
          </a:bodyPr>
          <a:lstStyle/>
          <a:p>
            <a:pPr algn="l"/>
            <a:r>
              <a:rPr sz="2400" b="1">
                <a:solidFill>
                  <a:srgbClr val="FFFFFF"/>
                </a:solidFill>
                <a:latin typeface="Calibri"/>
              </a:rPr>
              <a:t>8. Pourquoi le fine-tuning LoRA ?</a:t>
            </a:r>
          </a:p>
        </p:txBody>
      </p:sp>
      <p:sp>
        <p:nvSpPr>
          <p:cNvPr id="4" name="TextBox 3"/>
          <p:cNvSpPr txBox="1"/>
          <p:nvPr/>
        </p:nvSpPr>
        <p:spPr>
          <a:xfrm>
            <a:off x="10515600" y="228600"/>
            <a:ext cx="1371600" cy="457200"/>
          </a:xfrm>
          <a:prstGeom prst="rect">
            <a:avLst/>
          </a:prstGeom>
          <a:noFill/>
        </p:spPr>
        <p:txBody>
          <a:bodyPr wrap="square" lIns="0" rIns="0" tIns="0" bIns="0" anchor="t">
            <a:spAutoFit/>
          </a:bodyPr>
          <a:lstStyle/>
          <a:p>
            <a:pPr algn="r"/>
            <a:r>
              <a:rPr sz="1200" b="0">
                <a:solidFill>
                  <a:srgbClr val="FFFFFF"/>
                </a:solidFill>
                <a:latin typeface="Calibri"/>
              </a:rPr>
              <a:t>15/22</a:t>
            </a:r>
          </a:p>
        </p:txBody>
      </p:sp>
      <p:sp>
        <p:nvSpPr>
          <p:cNvPr id="5" name="Rectangle 4"/>
          <p:cNvSpPr/>
          <p:nvPr/>
        </p:nvSpPr>
        <p:spPr>
          <a:xfrm>
            <a:off x="640080" y="1280160"/>
            <a:ext cx="2743200" cy="502920"/>
          </a:xfrm>
          <a:prstGeom prst="rect">
            <a:avLst/>
          </a:prstGeom>
          <a:solidFill>
            <a:srgbClr val="0A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280160"/>
            <a:ext cx="2743200" cy="502920"/>
          </a:xfrm>
          <a:prstGeom prst="rect">
            <a:avLst/>
          </a:prstGeom>
          <a:noFill/>
        </p:spPr>
        <p:txBody>
          <a:bodyPr wrap="square" lIns="0" rIns="0" tIns="0" bIns="0" anchor="ctr">
            <a:spAutoFit/>
          </a:bodyPr>
          <a:lstStyle/>
          <a:p>
            <a:pPr algn="ctr"/>
            <a:r>
              <a:rPr sz="1300" b="1">
                <a:solidFill>
                  <a:srgbClr val="FFFFFF"/>
                </a:solidFill>
                <a:latin typeface="Calibri"/>
              </a:rPr>
              <a:t>Critère</a:t>
            </a:r>
          </a:p>
        </p:txBody>
      </p:sp>
      <p:sp>
        <p:nvSpPr>
          <p:cNvPr id="7" name="Rectangle 6"/>
          <p:cNvSpPr/>
          <p:nvPr/>
        </p:nvSpPr>
        <p:spPr>
          <a:xfrm>
            <a:off x="3383280" y="1280160"/>
            <a:ext cx="4114800" cy="502920"/>
          </a:xfrm>
          <a:prstGeom prst="rect">
            <a:avLst/>
          </a:prstGeom>
          <a:solidFill>
            <a:srgbClr val="0A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83280" y="1280160"/>
            <a:ext cx="4114800" cy="502920"/>
          </a:xfrm>
          <a:prstGeom prst="rect">
            <a:avLst/>
          </a:prstGeom>
          <a:noFill/>
        </p:spPr>
        <p:txBody>
          <a:bodyPr wrap="square" lIns="0" rIns="0" tIns="0" bIns="0" anchor="ctr">
            <a:spAutoFit/>
          </a:bodyPr>
          <a:lstStyle/>
          <a:p>
            <a:pPr algn="ctr"/>
            <a:r>
              <a:rPr sz="1300" b="1">
                <a:solidFill>
                  <a:srgbClr val="FFFFFF"/>
                </a:solidFill>
                <a:latin typeface="Calibri"/>
              </a:rPr>
              <a:t>RAG (recherche)</a:t>
            </a:r>
          </a:p>
        </p:txBody>
      </p:sp>
      <p:sp>
        <p:nvSpPr>
          <p:cNvPr id="9" name="Rectangle 8"/>
          <p:cNvSpPr/>
          <p:nvPr/>
        </p:nvSpPr>
        <p:spPr>
          <a:xfrm>
            <a:off x="7498080" y="1280160"/>
            <a:ext cx="4572000" cy="502920"/>
          </a:xfrm>
          <a:prstGeom prst="rect">
            <a:avLst/>
          </a:prstGeom>
          <a:solidFill>
            <a:srgbClr val="0A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0" y="1280160"/>
            <a:ext cx="4572000" cy="502920"/>
          </a:xfrm>
          <a:prstGeom prst="rect">
            <a:avLst/>
          </a:prstGeom>
          <a:noFill/>
        </p:spPr>
        <p:txBody>
          <a:bodyPr wrap="square" lIns="0" rIns="0" tIns="0" bIns="0" anchor="ctr">
            <a:spAutoFit/>
          </a:bodyPr>
          <a:lstStyle/>
          <a:p>
            <a:pPr algn="ctr"/>
            <a:r>
              <a:rPr sz="1300" b="1">
                <a:solidFill>
                  <a:srgbClr val="FFFFFF"/>
                </a:solidFill>
                <a:latin typeface="Calibri"/>
              </a:rPr>
              <a:t>LoRA (fine-tuning)</a:t>
            </a:r>
          </a:p>
        </p:txBody>
      </p:sp>
      <p:sp>
        <p:nvSpPr>
          <p:cNvPr id="11" name="Rectangle 10"/>
          <p:cNvSpPr/>
          <p:nvPr/>
        </p:nvSpPr>
        <p:spPr>
          <a:xfrm>
            <a:off x="640080" y="1783080"/>
            <a:ext cx="2743200" cy="5029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783080"/>
            <a:ext cx="2651760" cy="502920"/>
          </a:xfrm>
          <a:prstGeom prst="rect">
            <a:avLst/>
          </a:prstGeom>
          <a:noFill/>
        </p:spPr>
        <p:txBody>
          <a:bodyPr wrap="square" lIns="0" rIns="0" tIns="0" bIns="0" anchor="ctr">
            <a:spAutoFit/>
          </a:bodyPr>
          <a:lstStyle/>
          <a:p>
            <a:pPr algn="l"/>
            <a:r>
              <a:rPr sz="1200" b="0">
                <a:solidFill>
                  <a:srgbClr val="1A2332"/>
                </a:solidFill>
                <a:latin typeface="Calibri"/>
              </a:rPr>
              <a:t>Coût compute</a:t>
            </a:r>
          </a:p>
        </p:txBody>
      </p:sp>
      <p:sp>
        <p:nvSpPr>
          <p:cNvPr id="13" name="Rectangle 12"/>
          <p:cNvSpPr/>
          <p:nvPr/>
        </p:nvSpPr>
        <p:spPr>
          <a:xfrm>
            <a:off x="3383280" y="1783080"/>
            <a:ext cx="4114800" cy="5029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0" y="1783080"/>
            <a:ext cx="4023360" cy="502920"/>
          </a:xfrm>
          <a:prstGeom prst="rect">
            <a:avLst/>
          </a:prstGeom>
          <a:noFill/>
        </p:spPr>
        <p:txBody>
          <a:bodyPr wrap="square" lIns="0" rIns="0" tIns="0" bIns="0" anchor="ctr">
            <a:spAutoFit/>
          </a:bodyPr>
          <a:lstStyle/>
          <a:p>
            <a:pPr algn="l"/>
            <a:r>
              <a:rPr sz="1200" b="0">
                <a:solidFill>
                  <a:srgbClr val="1A2332"/>
                </a:solidFill>
                <a:latin typeface="Calibri"/>
              </a:rPr>
              <a:t>Faible (CPU OK)</a:t>
            </a:r>
          </a:p>
        </p:txBody>
      </p:sp>
      <p:sp>
        <p:nvSpPr>
          <p:cNvPr id="15" name="Rectangle 14"/>
          <p:cNvSpPr/>
          <p:nvPr/>
        </p:nvSpPr>
        <p:spPr>
          <a:xfrm>
            <a:off x="7498080" y="1783080"/>
            <a:ext cx="4572000" cy="5029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9520" y="1783080"/>
            <a:ext cx="4480560" cy="502920"/>
          </a:xfrm>
          <a:prstGeom prst="rect">
            <a:avLst/>
          </a:prstGeom>
          <a:noFill/>
        </p:spPr>
        <p:txBody>
          <a:bodyPr wrap="square" lIns="0" rIns="0" tIns="0" bIns="0" anchor="ctr">
            <a:spAutoFit/>
          </a:bodyPr>
          <a:lstStyle/>
          <a:p>
            <a:pPr algn="l"/>
            <a:r>
              <a:rPr sz="1200" b="0">
                <a:solidFill>
                  <a:srgbClr val="1A2332"/>
                </a:solidFill>
                <a:latin typeface="Calibri"/>
              </a:rPr>
              <a:t>Moyen (GPU 6 Go)</a:t>
            </a:r>
          </a:p>
        </p:txBody>
      </p:sp>
      <p:sp>
        <p:nvSpPr>
          <p:cNvPr id="17" name="Rectangle 16"/>
          <p:cNvSpPr/>
          <p:nvPr/>
        </p:nvSpPr>
        <p:spPr>
          <a:xfrm>
            <a:off x="640080" y="2286000"/>
            <a:ext cx="274320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2286000"/>
            <a:ext cx="2651760" cy="502920"/>
          </a:xfrm>
          <a:prstGeom prst="rect">
            <a:avLst/>
          </a:prstGeom>
          <a:noFill/>
        </p:spPr>
        <p:txBody>
          <a:bodyPr wrap="square" lIns="0" rIns="0" tIns="0" bIns="0" anchor="ctr">
            <a:spAutoFit/>
          </a:bodyPr>
          <a:lstStyle/>
          <a:p>
            <a:pPr algn="l"/>
            <a:r>
              <a:rPr sz="1200" b="0">
                <a:solidFill>
                  <a:srgbClr val="1A2332"/>
                </a:solidFill>
                <a:latin typeface="Calibri"/>
              </a:rPr>
              <a:t>Personnalisation</a:t>
            </a:r>
          </a:p>
        </p:txBody>
      </p:sp>
      <p:sp>
        <p:nvSpPr>
          <p:cNvPr id="19" name="Rectangle 18"/>
          <p:cNvSpPr/>
          <p:nvPr/>
        </p:nvSpPr>
        <p:spPr>
          <a:xfrm>
            <a:off x="3383280" y="2286000"/>
            <a:ext cx="411480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0" y="2286000"/>
            <a:ext cx="4023360" cy="502920"/>
          </a:xfrm>
          <a:prstGeom prst="rect">
            <a:avLst/>
          </a:prstGeom>
          <a:noFill/>
        </p:spPr>
        <p:txBody>
          <a:bodyPr wrap="square" lIns="0" rIns="0" tIns="0" bIns="0" anchor="ctr">
            <a:spAutoFit/>
          </a:bodyPr>
          <a:lstStyle/>
          <a:p>
            <a:pPr algn="l"/>
            <a:r>
              <a:rPr sz="1200" b="0">
                <a:solidFill>
                  <a:srgbClr val="1A2332"/>
                </a:solidFill>
                <a:latin typeface="Calibri"/>
              </a:rPr>
              <a:t>Limitée au prompt</a:t>
            </a:r>
          </a:p>
        </p:txBody>
      </p:sp>
      <p:sp>
        <p:nvSpPr>
          <p:cNvPr id="21" name="Rectangle 20"/>
          <p:cNvSpPr/>
          <p:nvPr/>
        </p:nvSpPr>
        <p:spPr>
          <a:xfrm>
            <a:off x="7498080" y="2286000"/>
            <a:ext cx="457200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89520" y="2286000"/>
            <a:ext cx="4480560" cy="502920"/>
          </a:xfrm>
          <a:prstGeom prst="rect">
            <a:avLst/>
          </a:prstGeom>
          <a:noFill/>
        </p:spPr>
        <p:txBody>
          <a:bodyPr wrap="square" lIns="0" rIns="0" tIns="0" bIns="0" anchor="ctr">
            <a:spAutoFit/>
          </a:bodyPr>
          <a:lstStyle/>
          <a:p>
            <a:pPr algn="l"/>
            <a:r>
              <a:rPr sz="1200" b="0">
                <a:solidFill>
                  <a:srgbClr val="1A2332"/>
                </a:solidFill>
                <a:latin typeface="Calibri"/>
              </a:rPr>
              <a:t>Apprend le style/jargon</a:t>
            </a:r>
          </a:p>
        </p:txBody>
      </p:sp>
      <p:sp>
        <p:nvSpPr>
          <p:cNvPr id="23" name="Rectangle 22"/>
          <p:cNvSpPr/>
          <p:nvPr/>
        </p:nvSpPr>
        <p:spPr>
          <a:xfrm>
            <a:off x="640080" y="2788920"/>
            <a:ext cx="2743200" cy="5029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1520" y="2788920"/>
            <a:ext cx="2651760" cy="502920"/>
          </a:xfrm>
          <a:prstGeom prst="rect">
            <a:avLst/>
          </a:prstGeom>
          <a:noFill/>
        </p:spPr>
        <p:txBody>
          <a:bodyPr wrap="square" lIns="0" rIns="0" tIns="0" bIns="0" anchor="ctr">
            <a:spAutoFit/>
          </a:bodyPr>
          <a:lstStyle/>
          <a:p>
            <a:pPr algn="l"/>
            <a:r>
              <a:rPr sz="1200" b="0">
                <a:solidFill>
                  <a:srgbClr val="1A2332"/>
                </a:solidFill>
                <a:latin typeface="Calibri"/>
              </a:rPr>
              <a:t>Latence</a:t>
            </a:r>
          </a:p>
        </p:txBody>
      </p:sp>
      <p:sp>
        <p:nvSpPr>
          <p:cNvPr id="25" name="Rectangle 24"/>
          <p:cNvSpPr/>
          <p:nvPr/>
        </p:nvSpPr>
        <p:spPr>
          <a:xfrm>
            <a:off x="3383280" y="2788920"/>
            <a:ext cx="4114800" cy="5029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474720" y="2788920"/>
            <a:ext cx="4023360" cy="502920"/>
          </a:xfrm>
          <a:prstGeom prst="rect">
            <a:avLst/>
          </a:prstGeom>
          <a:noFill/>
        </p:spPr>
        <p:txBody>
          <a:bodyPr wrap="square" lIns="0" rIns="0" tIns="0" bIns="0" anchor="ctr">
            <a:spAutoFit/>
          </a:bodyPr>
          <a:lstStyle/>
          <a:p>
            <a:pPr algn="l"/>
            <a:r>
              <a:rPr sz="1200" b="0">
                <a:solidFill>
                  <a:srgbClr val="1A2332"/>
                </a:solidFill>
                <a:latin typeface="Calibri"/>
              </a:rPr>
              <a:t>Plus élevée (recherche)</a:t>
            </a:r>
          </a:p>
        </p:txBody>
      </p:sp>
      <p:sp>
        <p:nvSpPr>
          <p:cNvPr id="27" name="Rectangle 26"/>
          <p:cNvSpPr/>
          <p:nvPr/>
        </p:nvSpPr>
        <p:spPr>
          <a:xfrm>
            <a:off x="7498080" y="2788920"/>
            <a:ext cx="4572000" cy="5029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89520" y="2788920"/>
            <a:ext cx="4480560" cy="502920"/>
          </a:xfrm>
          <a:prstGeom prst="rect">
            <a:avLst/>
          </a:prstGeom>
          <a:noFill/>
        </p:spPr>
        <p:txBody>
          <a:bodyPr wrap="square" lIns="0" rIns="0" tIns="0" bIns="0" anchor="ctr">
            <a:spAutoFit/>
          </a:bodyPr>
          <a:lstStyle/>
          <a:p>
            <a:pPr algn="l"/>
            <a:r>
              <a:rPr sz="1200" b="0">
                <a:solidFill>
                  <a:srgbClr val="1A2332"/>
                </a:solidFill>
                <a:latin typeface="Calibri"/>
              </a:rPr>
              <a:t>Faible (inférence directe)</a:t>
            </a:r>
          </a:p>
        </p:txBody>
      </p:sp>
      <p:sp>
        <p:nvSpPr>
          <p:cNvPr id="29" name="Rectangle 28"/>
          <p:cNvSpPr/>
          <p:nvPr/>
        </p:nvSpPr>
        <p:spPr>
          <a:xfrm>
            <a:off x="640080" y="3291840"/>
            <a:ext cx="274320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3291840"/>
            <a:ext cx="2651760" cy="502920"/>
          </a:xfrm>
          <a:prstGeom prst="rect">
            <a:avLst/>
          </a:prstGeom>
          <a:noFill/>
        </p:spPr>
        <p:txBody>
          <a:bodyPr wrap="square" lIns="0" rIns="0" tIns="0" bIns="0" anchor="ctr">
            <a:spAutoFit/>
          </a:bodyPr>
          <a:lstStyle/>
          <a:p>
            <a:pPr algn="l"/>
            <a:r>
              <a:rPr sz="1200" b="0">
                <a:solidFill>
                  <a:srgbClr val="1A2332"/>
                </a:solidFill>
                <a:latin typeface="Calibri"/>
              </a:rPr>
              <a:t>Mise à jour</a:t>
            </a:r>
          </a:p>
        </p:txBody>
      </p:sp>
      <p:sp>
        <p:nvSpPr>
          <p:cNvPr id="31" name="Rectangle 30"/>
          <p:cNvSpPr/>
          <p:nvPr/>
        </p:nvSpPr>
        <p:spPr>
          <a:xfrm>
            <a:off x="3383280" y="3291840"/>
            <a:ext cx="411480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474720" y="3291840"/>
            <a:ext cx="4023360" cy="502920"/>
          </a:xfrm>
          <a:prstGeom prst="rect">
            <a:avLst/>
          </a:prstGeom>
          <a:noFill/>
        </p:spPr>
        <p:txBody>
          <a:bodyPr wrap="square" lIns="0" rIns="0" tIns="0" bIns="0" anchor="ctr">
            <a:spAutoFit/>
          </a:bodyPr>
          <a:lstStyle/>
          <a:p>
            <a:pPr algn="l"/>
            <a:r>
              <a:rPr sz="1200" b="0">
                <a:solidFill>
                  <a:srgbClr val="1A2332"/>
                </a:solidFill>
                <a:latin typeface="Calibri"/>
              </a:rPr>
              <a:t>Très facile (re-index)</a:t>
            </a:r>
          </a:p>
        </p:txBody>
      </p:sp>
      <p:sp>
        <p:nvSpPr>
          <p:cNvPr id="33" name="Rectangle 32"/>
          <p:cNvSpPr/>
          <p:nvPr/>
        </p:nvSpPr>
        <p:spPr>
          <a:xfrm>
            <a:off x="7498080" y="3291840"/>
            <a:ext cx="4572000" cy="5029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89520" y="3291840"/>
            <a:ext cx="4480560" cy="502920"/>
          </a:xfrm>
          <a:prstGeom prst="rect">
            <a:avLst/>
          </a:prstGeom>
          <a:noFill/>
        </p:spPr>
        <p:txBody>
          <a:bodyPr wrap="square" lIns="0" rIns="0" tIns="0" bIns="0" anchor="ctr">
            <a:spAutoFit/>
          </a:bodyPr>
          <a:lstStyle/>
          <a:p>
            <a:pPr algn="l"/>
            <a:r>
              <a:rPr sz="1200" b="0">
                <a:solidFill>
                  <a:srgbClr val="1A2332"/>
                </a:solidFill>
                <a:latin typeface="Calibri"/>
              </a:rPr>
              <a:t>Re-train (1-2h)</a:t>
            </a:r>
          </a:p>
        </p:txBody>
      </p:sp>
      <p:sp>
        <p:nvSpPr>
          <p:cNvPr id="35" name="Rectangle 34"/>
          <p:cNvSpPr/>
          <p:nvPr/>
        </p:nvSpPr>
        <p:spPr>
          <a:xfrm>
            <a:off x="640080" y="3794760"/>
            <a:ext cx="2743200" cy="5029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3794760"/>
            <a:ext cx="2651760" cy="502920"/>
          </a:xfrm>
          <a:prstGeom prst="rect">
            <a:avLst/>
          </a:prstGeom>
          <a:noFill/>
        </p:spPr>
        <p:txBody>
          <a:bodyPr wrap="square" lIns="0" rIns="0" tIns="0" bIns="0" anchor="ctr">
            <a:spAutoFit/>
          </a:bodyPr>
          <a:lstStyle/>
          <a:p>
            <a:pPr algn="l"/>
            <a:r>
              <a:rPr sz="1200" b="1">
                <a:solidFill>
                  <a:srgbClr val="1A2332"/>
                </a:solidFill>
                <a:latin typeface="Calibri"/>
              </a:rPr>
              <a:t>Choix retenu</a:t>
            </a:r>
          </a:p>
        </p:txBody>
      </p:sp>
      <p:sp>
        <p:nvSpPr>
          <p:cNvPr id="37" name="Rectangle 36"/>
          <p:cNvSpPr/>
          <p:nvPr/>
        </p:nvSpPr>
        <p:spPr>
          <a:xfrm>
            <a:off x="3383280" y="3794760"/>
            <a:ext cx="4114800" cy="5029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474720" y="3794760"/>
            <a:ext cx="4023360" cy="502920"/>
          </a:xfrm>
          <a:prstGeom prst="rect">
            <a:avLst/>
          </a:prstGeom>
          <a:noFill/>
        </p:spPr>
        <p:txBody>
          <a:bodyPr wrap="square" lIns="0" rIns="0" tIns="0" bIns="0" anchor="ctr">
            <a:spAutoFit/>
          </a:bodyPr>
          <a:lstStyle/>
          <a:p>
            <a:pPr algn="l"/>
            <a:r>
              <a:rPr sz="1200" b="1">
                <a:solidFill>
                  <a:srgbClr val="1A2332"/>
                </a:solidFill>
                <a:latin typeface="Calibri"/>
              </a:rPr>
              <a:t>—</a:t>
            </a:r>
          </a:p>
        </p:txBody>
      </p:sp>
      <p:sp>
        <p:nvSpPr>
          <p:cNvPr id="39" name="Rectangle 38"/>
          <p:cNvSpPr/>
          <p:nvPr/>
        </p:nvSpPr>
        <p:spPr>
          <a:xfrm>
            <a:off x="7498080" y="3794760"/>
            <a:ext cx="4572000" cy="5029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589520" y="3794760"/>
            <a:ext cx="4480560" cy="502920"/>
          </a:xfrm>
          <a:prstGeom prst="rect">
            <a:avLst/>
          </a:prstGeom>
          <a:noFill/>
        </p:spPr>
        <p:txBody>
          <a:bodyPr wrap="square" lIns="0" rIns="0" tIns="0" bIns="0" anchor="ctr">
            <a:spAutoFit/>
          </a:bodyPr>
          <a:lstStyle/>
          <a:p>
            <a:pPr algn="l"/>
            <a:r>
              <a:rPr sz="1200" b="1">
                <a:solidFill>
                  <a:srgbClr val="198754"/>
                </a:solidFill>
                <a:latin typeface="Calibri"/>
              </a:rPr>
              <a:t>✓ Style + jargon UFR SI</a:t>
            </a:r>
          </a:p>
        </p:txBody>
      </p:sp>
      <p:sp>
        <p:nvSpPr>
          <p:cNvPr id="41" name="Rectangle 40"/>
          <p:cNvSpPr/>
          <p:nvPr/>
        </p:nvSpPr>
        <p:spPr>
          <a:xfrm>
            <a:off x="0" y="6400800"/>
            <a:ext cx="12191695" cy="4572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5760" y="6473952"/>
            <a:ext cx="7315200" cy="320040"/>
          </a:xfrm>
          <a:prstGeom prst="rect">
            <a:avLst/>
          </a:prstGeom>
          <a:noFill/>
        </p:spPr>
        <p:txBody>
          <a:bodyPr wrap="square" lIns="0" rIns="0" tIns="0" bIns="0" anchor="t">
            <a:spAutoFit/>
          </a:bodyPr>
          <a:lstStyle/>
          <a:p>
            <a:pPr algn="l"/>
            <a:r>
              <a:rPr sz="1000" b="0">
                <a:solidFill>
                  <a:srgbClr val="6C757D"/>
                </a:solidFill>
                <a:latin typeface="Calibri"/>
              </a:rPr>
              <a:t>Hanne &amp; Kounta — Gestion Emprunt Matériel Topographique — UFR SI UIDT</a:t>
            </a:r>
          </a:p>
        </p:txBody>
      </p:sp>
      <p:sp>
        <p:nvSpPr>
          <p:cNvPr id="43" name="TextBox 42"/>
          <p:cNvSpPr txBox="1"/>
          <p:nvPr/>
        </p:nvSpPr>
        <p:spPr>
          <a:xfrm>
            <a:off x="10515600" y="6473952"/>
            <a:ext cx="1371600" cy="320040"/>
          </a:xfrm>
          <a:prstGeom prst="rect">
            <a:avLst/>
          </a:prstGeom>
          <a:noFill/>
        </p:spPr>
        <p:txBody>
          <a:bodyPr wrap="square" lIns="0" rIns="0" tIns="0" bIns="0" anchor="t">
            <a:spAutoFit/>
          </a:bodyPr>
          <a:lstStyle/>
          <a:p>
            <a:pPr algn="r"/>
            <a:r>
              <a:rPr sz="1000" b="0">
                <a:solidFill>
                  <a:srgbClr val="6C757D"/>
                </a:solidFill>
                <a:latin typeface="Calibri"/>
              </a:rPr>
              <a:t>15 / 22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10515600" cy="457200"/>
          </a:xfrm>
          <a:prstGeom prst="rect">
            <a:avLst/>
          </a:prstGeom>
          <a:noFill/>
        </p:spPr>
        <p:txBody>
          <a:bodyPr wrap="square" lIns="0" rIns="0" tIns="0" bIns="0" anchor="t">
            <a:spAutoFit/>
          </a:bodyPr>
          <a:lstStyle/>
          <a:p>
            <a:pPr algn="l"/>
            <a:r>
              <a:rPr sz="2400" b="1">
                <a:solidFill>
                  <a:srgbClr val="FFFFFF"/>
                </a:solidFill>
                <a:latin typeface="Calibri"/>
              </a:rPr>
              <a:t>8. Fine-tuning Phi-3 + LoRA — Setup</a:t>
            </a:r>
          </a:p>
        </p:txBody>
      </p:sp>
      <p:sp>
        <p:nvSpPr>
          <p:cNvPr id="4" name="TextBox 3"/>
          <p:cNvSpPr txBox="1"/>
          <p:nvPr/>
        </p:nvSpPr>
        <p:spPr>
          <a:xfrm>
            <a:off x="10515600" y="228600"/>
            <a:ext cx="1371600" cy="457200"/>
          </a:xfrm>
          <a:prstGeom prst="rect">
            <a:avLst/>
          </a:prstGeom>
          <a:noFill/>
        </p:spPr>
        <p:txBody>
          <a:bodyPr wrap="square" lIns="0" rIns="0" tIns="0" bIns="0" anchor="t">
            <a:spAutoFit/>
          </a:bodyPr>
          <a:lstStyle/>
          <a:p>
            <a:pPr algn="r"/>
            <a:r>
              <a:rPr sz="1200" b="0">
                <a:solidFill>
                  <a:srgbClr val="FFFFFF"/>
                </a:solidFill>
                <a:latin typeface="Calibri"/>
              </a:rPr>
              <a:t>16/22</a:t>
            </a:r>
          </a:p>
        </p:txBody>
      </p:sp>
      <p:sp>
        <p:nvSpPr>
          <p:cNvPr id="5" name="TextBox 4"/>
          <p:cNvSpPr txBox="1"/>
          <p:nvPr/>
        </p:nvSpPr>
        <p:spPr>
          <a:xfrm>
            <a:off x="640080" y="1188720"/>
            <a:ext cx="5486400" cy="457200"/>
          </a:xfrm>
          <a:prstGeom prst="rect">
            <a:avLst/>
          </a:prstGeom>
          <a:noFill/>
        </p:spPr>
        <p:txBody>
          <a:bodyPr wrap="square" lIns="0" rIns="0" tIns="0" bIns="0" anchor="t">
            <a:spAutoFit/>
          </a:bodyPr>
          <a:lstStyle/>
          <a:p>
            <a:pPr algn="l"/>
            <a:r>
              <a:rPr sz="2000" b="1">
                <a:solidFill>
                  <a:srgbClr val="0D6EFD"/>
                </a:solidFill>
                <a:latin typeface="Calibri"/>
              </a:rPr>
              <a:t>Modèle de base</a:t>
            </a:r>
          </a:p>
        </p:txBody>
      </p:sp>
      <p:sp>
        <p:nvSpPr>
          <p:cNvPr id="6" name="TextBox 5"/>
          <p:cNvSpPr txBox="1"/>
          <p:nvPr/>
        </p:nvSpPr>
        <p:spPr>
          <a:xfrm>
            <a:off x="640080" y="1737360"/>
            <a:ext cx="5486400" cy="2286000"/>
          </a:xfrm>
          <a:prstGeom prst="rect">
            <a:avLst/>
          </a:prstGeom>
          <a:noFill/>
        </p:spPr>
        <p:txBody>
          <a:bodyPr wrap="square">
            <a:spAutoFit/>
          </a:bodyPr>
          <a:lstStyle/>
          <a:p>
            <a:pPr algn="l">
              <a:lnSpc>
                <a:spcPct val="130000"/>
              </a:lnSpc>
            </a:pPr>
            <a:r>
              <a:rPr sz="1400">
                <a:solidFill>
                  <a:srgbClr val="1A2332"/>
                </a:solidFill>
                <a:latin typeface="Calibri"/>
              </a:rPr>
              <a:t>• microsoft/Phi-3-mini-4k-instruct</a:t>
            </a:r>
          </a:p>
          <a:p>
            <a:pPr algn="l">
              <a:lnSpc>
                <a:spcPct val="130000"/>
              </a:lnSpc>
            </a:pPr>
            <a:r>
              <a:rPr sz="1400">
                <a:solidFill>
                  <a:srgbClr val="1A2332"/>
                </a:solidFill>
                <a:latin typeface="Calibri"/>
              </a:rPr>
              <a:t>• 3.8 B paramètres</a:t>
            </a:r>
          </a:p>
          <a:p>
            <a:pPr algn="l">
              <a:lnSpc>
                <a:spcPct val="130000"/>
              </a:lnSpc>
            </a:pPr>
            <a:r>
              <a:rPr sz="1400">
                <a:solidFill>
                  <a:srgbClr val="1A2332"/>
                </a:solidFill>
                <a:latin typeface="Calibri"/>
              </a:rPr>
              <a:t>• Quantization 4-bit (bitsandbytes)</a:t>
            </a:r>
          </a:p>
          <a:p>
            <a:pPr algn="l">
              <a:lnSpc>
                <a:spcPct val="130000"/>
              </a:lnSpc>
            </a:pPr>
            <a:r>
              <a:rPr sz="1400">
                <a:solidFill>
                  <a:srgbClr val="1A2332"/>
                </a:solidFill>
                <a:latin typeface="Calibri"/>
              </a:rPr>
              <a:t>• VRAM utilisée : ~6 Go</a:t>
            </a:r>
          </a:p>
        </p:txBody>
      </p:sp>
      <p:sp>
        <p:nvSpPr>
          <p:cNvPr id="7" name="TextBox 6"/>
          <p:cNvSpPr txBox="1"/>
          <p:nvPr/>
        </p:nvSpPr>
        <p:spPr>
          <a:xfrm>
            <a:off x="6400800" y="1188720"/>
            <a:ext cx="5486400" cy="457200"/>
          </a:xfrm>
          <a:prstGeom prst="rect">
            <a:avLst/>
          </a:prstGeom>
          <a:noFill/>
        </p:spPr>
        <p:txBody>
          <a:bodyPr wrap="square" lIns="0" rIns="0" tIns="0" bIns="0" anchor="t">
            <a:spAutoFit/>
          </a:bodyPr>
          <a:lstStyle/>
          <a:p>
            <a:pPr algn="l"/>
            <a:r>
              <a:rPr sz="2000" b="1">
                <a:solidFill>
                  <a:srgbClr val="0D6EFD"/>
                </a:solidFill>
                <a:latin typeface="Calibri"/>
              </a:rPr>
              <a:t>Hyperparamètres LoRA</a:t>
            </a:r>
          </a:p>
        </p:txBody>
      </p:sp>
      <p:sp>
        <p:nvSpPr>
          <p:cNvPr id="8" name="TextBox 7"/>
          <p:cNvSpPr txBox="1"/>
          <p:nvPr/>
        </p:nvSpPr>
        <p:spPr>
          <a:xfrm>
            <a:off x="6400800" y="1737360"/>
            <a:ext cx="5486400" cy="3200400"/>
          </a:xfrm>
          <a:prstGeom prst="rect">
            <a:avLst/>
          </a:prstGeom>
          <a:noFill/>
        </p:spPr>
        <p:txBody>
          <a:bodyPr wrap="square">
            <a:spAutoFit/>
          </a:bodyPr>
          <a:lstStyle/>
          <a:p>
            <a:pPr algn="l">
              <a:lnSpc>
                <a:spcPct val="130000"/>
              </a:lnSpc>
            </a:pPr>
            <a:r>
              <a:rPr sz="1400">
                <a:solidFill>
                  <a:srgbClr val="1A2332"/>
                </a:solidFill>
                <a:latin typeface="Calibri"/>
              </a:rPr>
              <a:t>• rank r = 16</a:t>
            </a:r>
          </a:p>
          <a:p>
            <a:pPr algn="l">
              <a:lnSpc>
                <a:spcPct val="130000"/>
              </a:lnSpc>
            </a:pPr>
            <a:r>
              <a:rPr sz="1400">
                <a:solidFill>
                  <a:srgbClr val="1A2332"/>
                </a:solidFill>
                <a:latin typeface="Calibri"/>
              </a:rPr>
              <a:t>• alpha = 32</a:t>
            </a:r>
          </a:p>
          <a:p>
            <a:pPr algn="l">
              <a:lnSpc>
                <a:spcPct val="130000"/>
              </a:lnSpc>
            </a:pPr>
            <a:r>
              <a:rPr sz="1400">
                <a:solidFill>
                  <a:srgbClr val="1A2332"/>
                </a:solidFill>
                <a:latin typeface="Calibri"/>
              </a:rPr>
              <a:t>• dropout = 0.05</a:t>
            </a:r>
          </a:p>
          <a:p>
            <a:pPr algn="l">
              <a:lnSpc>
                <a:spcPct val="130000"/>
              </a:lnSpc>
            </a:pPr>
            <a:r>
              <a:rPr sz="1400">
                <a:solidFill>
                  <a:srgbClr val="1A2332"/>
                </a:solidFill>
                <a:latin typeface="Calibri"/>
              </a:rPr>
              <a:t>• target_modules = q_proj, v_proj</a:t>
            </a:r>
          </a:p>
          <a:p>
            <a:pPr algn="l">
              <a:lnSpc>
                <a:spcPct val="130000"/>
              </a:lnSpc>
            </a:pPr>
            <a:r>
              <a:rPr sz="1400">
                <a:solidFill>
                  <a:srgbClr val="1A2332"/>
                </a:solidFill>
                <a:latin typeface="Calibri"/>
              </a:rPr>
              <a:t>• epochs = 3</a:t>
            </a:r>
          </a:p>
          <a:p>
            <a:pPr algn="l">
              <a:lnSpc>
                <a:spcPct val="130000"/>
              </a:lnSpc>
            </a:pPr>
            <a:r>
              <a:rPr sz="1400">
                <a:solidFill>
                  <a:srgbClr val="1A2332"/>
                </a:solidFill>
                <a:latin typeface="Calibri"/>
              </a:rPr>
              <a:t>• learning_rate = 2e-4</a:t>
            </a:r>
          </a:p>
          <a:p>
            <a:pPr algn="l">
              <a:lnSpc>
                <a:spcPct val="130000"/>
              </a:lnSpc>
            </a:pPr>
            <a:r>
              <a:rPr sz="1400">
                <a:solidFill>
                  <a:srgbClr val="1A2332"/>
                </a:solidFill>
                <a:latin typeface="Calibri"/>
              </a:rPr>
              <a:t>• batch_size = 4 (grad_accum = 4)</a:t>
            </a:r>
          </a:p>
        </p:txBody>
      </p:sp>
      <p:sp>
        <p:nvSpPr>
          <p:cNvPr id="9" name="Rectangle 8"/>
          <p:cNvSpPr/>
          <p:nvPr/>
        </p:nvSpPr>
        <p:spPr>
          <a:xfrm>
            <a:off x="640080" y="5029200"/>
            <a:ext cx="10972800" cy="1097280"/>
          </a:xfrm>
          <a:prstGeom prst="rect">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5029200"/>
            <a:ext cx="10972800" cy="1097280"/>
          </a:xfrm>
          <a:prstGeom prst="rect">
            <a:avLst/>
          </a:prstGeom>
          <a:noFill/>
        </p:spPr>
        <p:txBody>
          <a:bodyPr wrap="square" lIns="0" rIns="0" tIns="0" bIns="0" anchor="ctr">
            <a:spAutoFit/>
          </a:bodyPr>
          <a:lstStyle/>
          <a:p>
            <a:pPr algn="ctr"/>
            <a:r>
              <a:rPr sz="1400" b="1">
                <a:solidFill>
                  <a:srgbClr val="FFFFFF"/>
                </a:solidFill>
                <a:latin typeface="Calibri"/>
              </a:rPr>
              <a:t>Résultats : loss train 1.82 → 0.47 / loss val 1.79 → 0.61
Adapter LoRA = 38 Mo seulement (vs 8 Go modèle complet)</a:t>
            </a:r>
          </a:p>
        </p:txBody>
      </p:sp>
      <p:sp>
        <p:nvSpPr>
          <p:cNvPr id="11" name="Rectangle 10"/>
          <p:cNvSpPr/>
          <p:nvPr/>
        </p:nvSpPr>
        <p:spPr>
          <a:xfrm>
            <a:off x="0" y="6400800"/>
            <a:ext cx="12191695" cy="4572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6473952"/>
            <a:ext cx="7315200" cy="320040"/>
          </a:xfrm>
          <a:prstGeom prst="rect">
            <a:avLst/>
          </a:prstGeom>
          <a:noFill/>
        </p:spPr>
        <p:txBody>
          <a:bodyPr wrap="square" lIns="0" rIns="0" tIns="0" bIns="0" anchor="t">
            <a:spAutoFit/>
          </a:bodyPr>
          <a:lstStyle/>
          <a:p>
            <a:pPr algn="l"/>
            <a:r>
              <a:rPr sz="1000" b="0">
                <a:solidFill>
                  <a:srgbClr val="6C757D"/>
                </a:solidFill>
                <a:latin typeface="Calibri"/>
              </a:rPr>
              <a:t>Hanne &amp; Kounta — Gestion Emprunt Matériel Topographique — UFR SI UIDT</a:t>
            </a:r>
          </a:p>
        </p:txBody>
      </p:sp>
      <p:sp>
        <p:nvSpPr>
          <p:cNvPr id="13" name="TextBox 12"/>
          <p:cNvSpPr txBox="1"/>
          <p:nvPr/>
        </p:nvSpPr>
        <p:spPr>
          <a:xfrm>
            <a:off x="10515600" y="6473952"/>
            <a:ext cx="1371600" cy="320040"/>
          </a:xfrm>
          <a:prstGeom prst="rect">
            <a:avLst/>
          </a:prstGeom>
          <a:noFill/>
        </p:spPr>
        <p:txBody>
          <a:bodyPr wrap="square" lIns="0" rIns="0" tIns="0" bIns="0" anchor="t">
            <a:spAutoFit/>
          </a:bodyPr>
          <a:lstStyle/>
          <a:p>
            <a:pPr algn="r"/>
            <a:r>
              <a:rPr sz="1000" b="0">
                <a:solidFill>
                  <a:srgbClr val="6C757D"/>
                </a:solidFill>
                <a:latin typeface="Calibri"/>
              </a:rPr>
              <a:t>16 / 22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10515600" cy="457200"/>
          </a:xfrm>
          <a:prstGeom prst="rect">
            <a:avLst/>
          </a:prstGeom>
          <a:noFill/>
        </p:spPr>
        <p:txBody>
          <a:bodyPr wrap="square" lIns="0" rIns="0" tIns="0" bIns="0" anchor="t">
            <a:spAutoFit/>
          </a:bodyPr>
          <a:lstStyle/>
          <a:p>
            <a:pPr algn="l"/>
            <a:r>
              <a:rPr sz="2400" b="1">
                <a:solidFill>
                  <a:srgbClr val="FFFFFF"/>
                </a:solidFill>
                <a:latin typeface="Calibri"/>
              </a:rPr>
              <a:t>9. Intégration du chatbot</a:t>
            </a:r>
          </a:p>
        </p:txBody>
      </p:sp>
      <p:sp>
        <p:nvSpPr>
          <p:cNvPr id="4" name="TextBox 3"/>
          <p:cNvSpPr txBox="1"/>
          <p:nvPr/>
        </p:nvSpPr>
        <p:spPr>
          <a:xfrm>
            <a:off x="10515600" y="228600"/>
            <a:ext cx="1371600" cy="457200"/>
          </a:xfrm>
          <a:prstGeom prst="rect">
            <a:avLst/>
          </a:prstGeom>
          <a:noFill/>
        </p:spPr>
        <p:txBody>
          <a:bodyPr wrap="square" lIns="0" rIns="0" tIns="0" bIns="0" anchor="t">
            <a:spAutoFit/>
          </a:bodyPr>
          <a:lstStyle/>
          <a:p>
            <a:pPr algn="r"/>
            <a:r>
              <a:rPr sz="1200" b="0">
                <a:solidFill>
                  <a:srgbClr val="FFFFFF"/>
                </a:solidFill>
                <a:latin typeface="Calibri"/>
              </a:rPr>
              <a:t>17/22</a:t>
            </a:r>
          </a:p>
        </p:txBody>
      </p:sp>
      <p:sp>
        <p:nvSpPr>
          <p:cNvPr id="5" name="TextBox 4"/>
          <p:cNvSpPr txBox="1"/>
          <p:nvPr/>
        </p:nvSpPr>
        <p:spPr>
          <a:xfrm>
            <a:off x="640080" y="1188720"/>
            <a:ext cx="10972800" cy="457200"/>
          </a:xfrm>
          <a:prstGeom prst="rect">
            <a:avLst/>
          </a:prstGeom>
          <a:noFill/>
        </p:spPr>
        <p:txBody>
          <a:bodyPr wrap="square" lIns="0" rIns="0" tIns="0" bIns="0" anchor="t">
            <a:spAutoFit/>
          </a:bodyPr>
          <a:lstStyle/>
          <a:p>
            <a:pPr algn="l"/>
            <a:r>
              <a:rPr sz="1800" b="0">
                <a:solidFill>
                  <a:srgbClr val="0A3D91"/>
                </a:solidFill>
                <a:latin typeface="Calibri"/>
              </a:rPr>
              <a:t>Architecture client / serveur :</a:t>
            </a:r>
          </a:p>
        </p:txBody>
      </p:sp>
      <p:sp>
        <p:nvSpPr>
          <p:cNvPr id="6" name="Rectangle 5"/>
          <p:cNvSpPr/>
          <p:nvPr/>
        </p:nvSpPr>
        <p:spPr>
          <a:xfrm>
            <a:off x="640080" y="2011680"/>
            <a:ext cx="3291840" cy="1371600"/>
          </a:xfrm>
          <a:prstGeom prst="rect">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011680"/>
            <a:ext cx="3291840" cy="1371600"/>
          </a:xfrm>
          <a:prstGeom prst="rect">
            <a:avLst/>
          </a:prstGeom>
          <a:noFill/>
        </p:spPr>
        <p:txBody>
          <a:bodyPr wrap="square" lIns="0" rIns="0" tIns="0" bIns="0" anchor="ctr">
            <a:spAutoFit/>
          </a:bodyPr>
          <a:lstStyle/>
          <a:p>
            <a:pPr algn="ctr"/>
            <a:r>
              <a:rPr sz="1500" b="1">
                <a:solidFill>
                  <a:srgbClr val="FFFFFF"/>
                </a:solidFill>
                <a:latin typeface="Calibri"/>
              </a:rPr>
              <a:t>Widget chat
(JS frontend)</a:t>
            </a:r>
          </a:p>
        </p:txBody>
      </p:sp>
      <p:sp>
        <p:nvSpPr>
          <p:cNvPr id="8" name="TextBox 7"/>
          <p:cNvSpPr txBox="1"/>
          <p:nvPr/>
        </p:nvSpPr>
        <p:spPr>
          <a:xfrm>
            <a:off x="3931920" y="2468880"/>
            <a:ext cx="640080" cy="457200"/>
          </a:xfrm>
          <a:prstGeom prst="rect">
            <a:avLst/>
          </a:prstGeom>
          <a:noFill/>
        </p:spPr>
        <p:txBody>
          <a:bodyPr wrap="square" lIns="0" rIns="0" tIns="0" bIns="0" anchor="t">
            <a:spAutoFit/>
          </a:bodyPr>
          <a:lstStyle/>
          <a:p>
            <a:pPr algn="ctr"/>
            <a:r>
              <a:rPr sz="3000" b="1">
                <a:solidFill>
                  <a:srgbClr val="6C757D"/>
                </a:solidFill>
                <a:latin typeface="Calibri"/>
              </a:rPr>
              <a:t>→</a:t>
            </a:r>
          </a:p>
        </p:txBody>
      </p:sp>
      <p:sp>
        <p:nvSpPr>
          <p:cNvPr id="9" name="Rectangle 8"/>
          <p:cNvSpPr/>
          <p:nvPr/>
        </p:nvSpPr>
        <p:spPr>
          <a:xfrm>
            <a:off x="4572000" y="2011680"/>
            <a:ext cx="3291840" cy="1371600"/>
          </a:xfrm>
          <a:prstGeom prst="rect">
            <a:avLst/>
          </a:prstGeom>
          <a:solidFill>
            <a:srgbClr val="0A3D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2011680"/>
            <a:ext cx="3291840" cy="1371600"/>
          </a:xfrm>
          <a:prstGeom prst="rect">
            <a:avLst/>
          </a:prstGeom>
          <a:noFill/>
        </p:spPr>
        <p:txBody>
          <a:bodyPr wrap="square" lIns="0" rIns="0" tIns="0" bIns="0" anchor="ctr">
            <a:spAutoFit/>
          </a:bodyPr>
          <a:lstStyle/>
          <a:p>
            <a:pPr algn="ctr"/>
            <a:r>
              <a:rPr sz="1500" b="1">
                <a:solidFill>
                  <a:srgbClr val="FFFFFF"/>
                </a:solidFill>
                <a:latin typeface="Calibri"/>
              </a:rPr>
              <a:t>Django
/api/ia/ask/</a:t>
            </a:r>
          </a:p>
        </p:txBody>
      </p:sp>
      <p:sp>
        <p:nvSpPr>
          <p:cNvPr id="11" name="TextBox 10"/>
          <p:cNvSpPr txBox="1"/>
          <p:nvPr/>
        </p:nvSpPr>
        <p:spPr>
          <a:xfrm>
            <a:off x="7863840" y="2468880"/>
            <a:ext cx="640080" cy="457200"/>
          </a:xfrm>
          <a:prstGeom prst="rect">
            <a:avLst/>
          </a:prstGeom>
          <a:noFill/>
        </p:spPr>
        <p:txBody>
          <a:bodyPr wrap="square" lIns="0" rIns="0" tIns="0" bIns="0" anchor="t">
            <a:spAutoFit/>
          </a:bodyPr>
          <a:lstStyle/>
          <a:p>
            <a:pPr algn="ctr"/>
            <a:r>
              <a:rPr sz="3000" b="1">
                <a:solidFill>
                  <a:srgbClr val="6C757D"/>
                </a:solidFill>
                <a:latin typeface="Calibri"/>
              </a:rPr>
              <a:t>→</a:t>
            </a:r>
          </a:p>
        </p:txBody>
      </p:sp>
      <p:sp>
        <p:nvSpPr>
          <p:cNvPr id="12" name="Rectangle 11"/>
          <p:cNvSpPr/>
          <p:nvPr/>
        </p:nvSpPr>
        <p:spPr>
          <a:xfrm>
            <a:off x="8503919" y="2011680"/>
            <a:ext cx="3291840" cy="1371600"/>
          </a:xfrm>
          <a:prstGeom prst="rect">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19" y="2011680"/>
            <a:ext cx="3291840" cy="1371600"/>
          </a:xfrm>
          <a:prstGeom prst="rect">
            <a:avLst/>
          </a:prstGeom>
          <a:noFill/>
        </p:spPr>
        <p:txBody>
          <a:bodyPr wrap="square" lIns="0" rIns="0" tIns="0" bIns="0" anchor="ctr">
            <a:spAutoFit/>
          </a:bodyPr>
          <a:lstStyle/>
          <a:p>
            <a:pPr algn="ctr"/>
            <a:r>
              <a:rPr sz="1500" b="1">
                <a:solidFill>
                  <a:srgbClr val="FFFFFF"/>
                </a:solidFill>
                <a:latin typeface="Calibri"/>
              </a:rPr>
              <a:t>FastAPI
Phi-3 + LoRA</a:t>
            </a:r>
          </a:p>
        </p:txBody>
      </p:sp>
      <p:sp>
        <p:nvSpPr>
          <p:cNvPr id="14" name="TextBox 13"/>
          <p:cNvSpPr txBox="1"/>
          <p:nvPr/>
        </p:nvSpPr>
        <p:spPr>
          <a:xfrm>
            <a:off x="640080" y="3657600"/>
            <a:ext cx="10972800" cy="2286000"/>
          </a:xfrm>
          <a:prstGeom prst="rect">
            <a:avLst/>
          </a:prstGeom>
          <a:noFill/>
        </p:spPr>
        <p:txBody>
          <a:bodyPr wrap="square">
            <a:spAutoFit/>
          </a:bodyPr>
          <a:lstStyle/>
          <a:p>
            <a:pPr algn="l">
              <a:lnSpc>
                <a:spcPct val="130000"/>
              </a:lnSpc>
            </a:pPr>
            <a:r>
              <a:rPr sz="1400">
                <a:solidFill>
                  <a:srgbClr val="1A2332"/>
                </a:solidFill>
                <a:latin typeface="Calibri"/>
              </a:rPr>
              <a:t>• Frontend → POST JSON {question} avec JWT</a:t>
            </a:r>
          </a:p>
          <a:p>
            <a:pPr algn="l">
              <a:lnSpc>
                <a:spcPct val="130000"/>
              </a:lnSpc>
            </a:pPr>
            <a:r>
              <a:rPr sz="1400">
                <a:solidFill>
                  <a:srgbClr val="1A2332"/>
                </a:solidFill>
                <a:latin typeface="Calibri"/>
              </a:rPr>
              <a:t>• Django relaie vers FastAPI (port 8001) en interne</a:t>
            </a:r>
          </a:p>
          <a:p>
            <a:pPr algn="l">
              <a:lnSpc>
                <a:spcPct val="130000"/>
              </a:lnSpc>
            </a:pPr>
            <a:r>
              <a:rPr sz="1400">
                <a:solidFill>
                  <a:srgbClr val="1A2332"/>
                </a:solidFill>
                <a:latin typeface="Calibri"/>
              </a:rPr>
              <a:t>• FastAPI charge Phi-3 + adapter LoRA et génère la réponse</a:t>
            </a:r>
          </a:p>
          <a:p>
            <a:pPr algn="l">
              <a:lnSpc>
                <a:spcPct val="130000"/>
              </a:lnSpc>
            </a:pPr>
            <a:r>
              <a:rPr sz="1400">
                <a:solidFill>
                  <a:srgbClr val="1A2332"/>
                </a:solidFill>
                <a:latin typeface="Calibri"/>
              </a:rPr>
              <a:t>• USE_MOCK=1 en dev pour tests sans GPU</a:t>
            </a:r>
          </a:p>
        </p:txBody>
      </p:sp>
      <p:sp>
        <p:nvSpPr>
          <p:cNvPr id="15" name="Rectangle 14"/>
          <p:cNvSpPr/>
          <p:nvPr/>
        </p:nvSpPr>
        <p:spPr>
          <a:xfrm>
            <a:off x="0" y="6400800"/>
            <a:ext cx="12191695" cy="4572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473952"/>
            <a:ext cx="7315200" cy="320040"/>
          </a:xfrm>
          <a:prstGeom prst="rect">
            <a:avLst/>
          </a:prstGeom>
          <a:noFill/>
        </p:spPr>
        <p:txBody>
          <a:bodyPr wrap="square" lIns="0" rIns="0" tIns="0" bIns="0" anchor="t">
            <a:spAutoFit/>
          </a:bodyPr>
          <a:lstStyle/>
          <a:p>
            <a:pPr algn="l"/>
            <a:r>
              <a:rPr sz="1000" b="0">
                <a:solidFill>
                  <a:srgbClr val="6C757D"/>
                </a:solidFill>
                <a:latin typeface="Calibri"/>
              </a:rPr>
              <a:t>Hanne &amp; Kounta — Gestion Emprunt Matériel Topographique — UFR SI UIDT</a:t>
            </a:r>
          </a:p>
        </p:txBody>
      </p:sp>
      <p:sp>
        <p:nvSpPr>
          <p:cNvPr id="17" name="TextBox 16"/>
          <p:cNvSpPr txBox="1"/>
          <p:nvPr/>
        </p:nvSpPr>
        <p:spPr>
          <a:xfrm>
            <a:off x="10515600" y="6473952"/>
            <a:ext cx="1371600" cy="320040"/>
          </a:xfrm>
          <a:prstGeom prst="rect">
            <a:avLst/>
          </a:prstGeom>
          <a:noFill/>
        </p:spPr>
        <p:txBody>
          <a:bodyPr wrap="square" lIns="0" rIns="0" tIns="0" bIns="0" anchor="t">
            <a:spAutoFit/>
          </a:bodyPr>
          <a:lstStyle/>
          <a:p>
            <a:pPr algn="r"/>
            <a:r>
              <a:rPr sz="1000" b="0">
                <a:solidFill>
                  <a:srgbClr val="6C757D"/>
                </a:solidFill>
                <a:latin typeface="Calibri"/>
              </a:rPr>
              <a:t>17 / 22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10515600" cy="457200"/>
          </a:xfrm>
          <a:prstGeom prst="rect">
            <a:avLst/>
          </a:prstGeom>
          <a:noFill/>
        </p:spPr>
        <p:txBody>
          <a:bodyPr wrap="square" lIns="0" rIns="0" tIns="0" bIns="0" anchor="t">
            <a:spAutoFit/>
          </a:bodyPr>
          <a:lstStyle/>
          <a:p>
            <a:pPr algn="l"/>
            <a:r>
              <a:rPr sz="2400" b="1">
                <a:solidFill>
                  <a:srgbClr val="FFFFFF"/>
                </a:solidFill>
                <a:latin typeface="Calibri"/>
              </a:rPr>
              <a:t>10. Démonstration en direct</a:t>
            </a:r>
          </a:p>
        </p:txBody>
      </p:sp>
      <p:sp>
        <p:nvSpPr>
          <p:cNvPr id="4" name="TextBox 3"/>
          <p:cNvSpPr txBox="1"/>
          <p:nvPr/>
        </p:nvSpPr>
        <p:spPr>
          <a:xfrm>
            <a:off x="10515600" y="228600"/>
            <a:ext cx="1371600" cy="457200"/>
          </a:xfrm>
          <a:prstGeom prst="rect">
            <a:avLst/>
          </a:prstGeom>
          <a:noFill/>
        </p:spPr>
        <p:txBody>
          <a:bodyPr wrap="square" lIns="0" rIns="0" tIns="0" bIns="0" anchor="t">
            <a:spAutoFit/>
          </a:bodyPr>
          <a:lstStyle/>
          <a:p>
            <a:pPr algn="r"/>
            <a:r>
              <a:rPr sz="1200" b="0">
                <a:solidFill>
                  <a:srgbClr val="FFFFFF"/>
                </a:solidFill>
                <a:latin typeface="Calibri"/>
              </a:rPr>
              <a:t>18/22</a:t>
            </a:r>
          </a:p>
        </p:txBody>
      </p:sp>
      <p:sp>
        <p:nvSpPr>
          <p:cNvPr id="5" name="TextBox 4"/>
          <p:cNvSpPr txBox="1"/>
          <p:nvPr/>
        </p:nvSpPr>
        <p:spPr>
          <a:xfrm>
            <a:off x="640080" y="1371600"/>
            <a:ext cx="10972800" cy="548640"/>
          </a:xfrm>
          <a:prstGeom prst="rect">
            <a:avLst/>
          </a:prstGeom>
          <a:noFill/>
        </p:spPr>
        <p:txBody>
          <a:bodyPr wrap="square" lIns="0" rIns="0" tIns="0" bIns="0" anchor="t">
            <a:spAutoFit/>
          </a:bodyPr>
          <a:lstStyle/>
          <a:p>
            <a:pPr algn="l"/>
            <a:r>
              <a:rPr sz="2200" b="1">
                <a:solidFill>
                  <a:srgbClr val="0D6EFD"/>
                </a:solidFill>
                <a:latin typeface="Calibri"/>
              </a:rPr>
              <a:t>Scénario complet (5 minutes) :</a:t>
            </a:r>
          </a:p>
        </p:txBody>
      </p:sp>
      <p:sp>
        <p:nvSpPr>
          <p:cNvPr id="6" name="TextBox 5"/>
          <p:cNvSpPr txBox="1"/>
          <p:nvPr/>
        </p:nvSpPr>
        <p:spPr>
          <a:xfrm>
            <a:off x="640080" y="2103120"/>
            <a:ext cx="10972800" cy="4572000"/>
          </a:xfrm>
          <a:prstGeom prst="rect">
            <a:avLst/>
          </a:prstGeom>
          <a:noFill/>
        </p:spPr>
        <p:txBody>
          <a:bodyPr wrap="square">
            <a:spAutoFit/>
          </a:bodyPr>
          <a:lstStyle/>
          <a:p>
            <a:pPr algn="l">
              <a:lnSpc>
                <a:spcPct val="150000"/>
              </a:lnSpc>
            </a:pPr>
            <a:r>
              <a:rPr sz="1800">
                <a:solidFill>
                  <a:srgbClr val="1A2332"/>
                </a:solidFill>
                <a:latin typeface="Calibri"/>
              </a:rPr>
              <a:t>• 1. Connexion en tant qu'étudiante (compte Bineta)</a:t>
            </a:r>
          </a:p>
          <a:p>
            <a:pPr algn="l">
              <a:lnSpc>
                <a:spcPct val="150000"/>
              </a:lnSpc>
            </a:pPr>
            <a:r>
              <a:rPr sz="1800">
                <a:solidFill>
                  <a:srgbClr val="1A2332"/>
                </a:solidFill>
                <a:latin typeface="Calibri"/>
              </a:rPr>
              <a:t>• 2. Consultation du catalogue → réservation d'une station Leica TS06</a:t>
            </a:r>
          </a:p>
          <a:p>
            <a:pPr algn="l">
              <a:lnSpc>
                <a:spcPct val="150000"/>
              </a:lnSpc>
            </a:pPr>
            <a:r>
              <a:rPr sz="1800">
                <a:solidFill>
                  <a:srgbClr val="1A2332"/>
                </a:solidFill>
                <a:latin typeface="Calibri"/>
              </a:rPr>
              <a:t>• 3. Switch sur le compte technicien → validation de la demande</a:t>
            </a:r>
          </a:p>
          <a:p>
            <a:pPr algn="l">
              <a:lnSpc>
                <a:spcPct val="150000"/>
              </a:lnSpc>
            </a:pPr>
            <a:r>
              <a:rPr sz="1800">
                <a:solidFill>
                  <a:srgbClr val="1A2332"/>
                </a:solidFill>
                <a:latin typeface="Calibri"/>
              </a:rPr>
              <a:t>• 4. Affichage de la carte Leaflet avec points GPS du dernier TP</a:t>
            </a:r>
          </a:p>
          <a:p>
            <a:pPr algn="l">
              <a:lnSpc>
                <a:spcPct val="150000"/>
              </a:lnSpc>
            </a:pPr>
            <a:r>
              <a:rPr sz="1800">
                <a:solidFill>
                  <a:srgbClr val="1A2332"/>
                </a:solidFill>
                <a:latin typeface="Calibri"/>
              </a:rPr>
              <a:t>• 5. Question au chatbot : « Comment niveler une station totale ? »</a:t>
            </a:r>
          </a:p>
          <a:p>
            <a:pPr algn="l">
              <a:lnSpc>
                <a:spcPct val="150000"/>
              </a:lnSpc>
            </a:pPr>
            <a:r>
              <a:rPr sz="1800">
                <a:solidFill>
                  <a:srgbClr val="1A2332"/>
                </a:solidFill>
                <a:latin typeface="Calibri"/>
              </a:rPr>
              <a:t>• 6. Restitution + dashboard admin (stats + export CSV)</a:t>
            </a:r>
          </a:p>
        </p:txBody>
      </p:sp>
      <p:sp>
        <p:nvSpPr>
          <p:cNvPr id="7" name="Rectangle 6"/>
          <p:cNvSpPr/>
          <p:nvPr/>
        </p:nvSpPr>
        <p:spPr>
          <a:xfrm>
            <a:off x="0" y="6400800"/>
            <a:ext cx="12191695" cy="4572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6473952"/>
            <a:ext cx="7315200" cy="320040"/>
          </a:xfrm>
          <a:prstGeom prst="rect">
            <a:avLst/>
          </a:prstGeom>
          <a:noFill/>
        </p:spPr>
        <p:txBody>
          <a:bodyPr wrap="square" lIns="0" rIns="0" tIns="0" bIns="0" anchor="t">
            <a:spAutoFit/>
          </a:bodyPr>
          <a:lstStyle/>
          <a:p>
            <a:pPr algn="l"/>
            <a:r>
              <a:rPr sz="1000" b="0">
                <a:solidFill>
                  <a:srgbClr val="6C757D"/>
                </a:solidFill>
                <a:latin typeface="Calibri"/>
              </a:rPr>
              <a:t>Hanne &amp; Kounta — Gestion Emprunt Matériel Topographique — UFR SI UIDT</a:t>
            </a:r>
          </a:p>
        </p:txBody>
      </p:sp>
      <p:sp>
        <p:nvSpPr>
          <p:cNvPr id="9" name="TextBox 8"/>
          <p:cNvSpPr txBox="1"/>
          <p:nvPr/>
        </p:nvSpPr>
        <p:spPr>
          <a:xfrm>
            <a:off x="10515600" y="6473952"/>
            <a:ext cx="1371600" cy="320040"/>
          </a:xfrm>
          <a:prstGeom prst="rect">
            <a:avLst/>
          </a:prstGeom>
          <a:noFill/>
        </p:spPr>
        <p:txBody>
          <a:bodyPr wrap="square" lIns="0" rIns="0" tIns="0" bIns="0" anchor="t">
            <a:spAutoFit/>
          </a:bodyPr>
          <a:lstStyle/>
          <a:p>
            <a:pPr algn="r"/>
            <a:r>
              <a:rPr sz="1000" b="0">
                <a:solidFill>
                  <a:srgbClr val="6C757D"/>
                </a:solidFill>
                <a:latin typeface="Calibri"/>
              </a:rPr>
              <a:t>18 / 22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10515600" cy="457200"/>
          </a:xfrm>
          <a:prstGeom prst="rect">
            <a:avLst/>
          </a:prstGeom>
          <a:noFill/>
        </p:spPr>
        <p:txBody>
          <a:bodyPr wrap="square" lIns="0" rIns="0" tIns="0" bIns="0" anchor="t">
            <a:spAutoFit/>
          </a:bodyPr>
          <a:lstStyle/>
          <a:p>
            <a:pPr algn="l"/>
            <a:r>
              <a:rPr sz="2400" b="1">
                <a:solidFill>
                  <a:srgbClr val="FFFFFF"/>
                </a:solidFill>
                <a:latin typeface="Calibri"/>
              </a:rPr>
              <a:t>11. Difficultés rencontrées</a:t>
            </a:r>
          </a:p>
        </p:txBody>
      </p:sp>
      <p:sp>
        <p:nvSpPr>
          <p:cNvPr id="4" name="TextBox 3"/>
          <p:cNvSpPr txBox="1"/>
          <p:nvPr/>
        </p:nvSpPr>
        <p:spPr>
          <a:xfrm>
            <a:off x="10515600" y="228600"/>
            <a:ext cx="1371600" cy="457200"/>
          </a:xfrm>
          <a:prstGeom prst="rect">
            <a:avLst/>
          </a:prstGeom>
          <a:noFill/>
        </p:spPr>
        <p:txBody>
          <a:bodyPr wrap="square" lIns="0" rIns="0" tIns="0" bIns="0" anchor="t">
            <a:spAutoFit/>
          </a:bodyPr>
          <a:lstStyle/>
          <a:p>
            <a:pPr algn="r"/>
            <a:r>
              <a:rPr sz="1200" b="0">
                <a:solidFill>
                  <a:srgbClr val="FFFFFF"/>
                </a:solidFill>
                <a:latin typeface="Calibri"/>
              </a:rPr>
              <a:t>19/22</a:t>
            </a:r>
          </a:p>
        </p:txBody>
      </p:sp>
      <p:sp>
        <p:nvSpPr>
          <p:cNvPr id="5" name="TextBox 4"/>
          <p:cNvSpPr txBox="1"/>
          <p:nvPr/>
        </p:nvSpPr>
        <p:spPr>
          <a:xfrm>
            <a:off x="640080" y="1188720"/>
            <a:ext cx="5486400" cy="457200"/>
          </a:xfrm>
          <a:prstGeom prst="rect">
            <a:avLst/>
          </a:prstGeom>
          <a:noFill/>
        </p:spPr>
        <p:txBody>
          <a:bodyPr wrap="square" lIns="0" rIns="0" tIns="0" bIns="0" anchor="t">
            <a:spAutoFit/>
          </a:bodyPr>
          <a:lstStyle/>
          <a:p>
            <a:pPr algn="l"/>
            <a:r>
              <a:rPr sz="2000" b="1">
                <a:solidFill>
                  <a:srgbClr val="0D6EFD"/>
                </a:solidFill>
                <a:latin typeface="Calibri"/>
              </a:rPr>
              <a:t>Difficultés</a:t>
            </a:r>
          </a:p>
        </p:txBody>
      </p:sp>
      <p:sp>
        <p:nvSpPr>
          <p:cNvPr id="6" name="TextBox 5"/>
          <p:cNvSpPr txBox="1"/>
          <p:nvPr/>
        </p:nvSpPr>
        <p:spPr>
          <a:xfrm>
            <a:off x="640080" y="1737360"/>
            <a:ext cx="5486400" cy="4572000"/>
          </a:xfrm>
          <a:prstGeom prst="rect">
            <a:avLst/>
          </a:prstGeom>
          <a:noFill/>
        </p:spPr>
        <p:txBody>
          <a:bodyPr wrap="square">
            <a:spAutoFit/>
          </a:bodyPr>
          <a:lstStyle/>
          <a:p>
            <a:pPr algn="l">
              <a:lnSpc>
                <a:spcPct val="130000"/>
              </a:lnSpc>
            </a:pPr>
            <a:r>
              <a:rPr sz="1500">
                <a:solidFill>
                  <a:srgbClr val="1A2332"/>
                </a:solidFill>
                <a:latin typeface="Calibri"/>
              </a:rPr>
              <a:t>• Synchronisation Git en binôme</a:t>
            </a:r>
          </a:p>
          <a:p>
            <a:pPr algn="l">
              <a:lnSpc>
                <a:spcPct val="130000"/>
              </a:lnSpc>
            </a:pPr>
            <a:r>
              <a:rPr sz="1500">
                <a:solidFill>
                  <a:srgbClr val="1A2332"/>
                </a:solidFill>
                <a:latin typeface="Calibri"/>
              </a:rPr>
              <a:t>• Modélisation des relations Demande/Restitution</a:t>
            </a:r>
          </a:p>
          <a:p>
            <a:pPr algn="l">
              <a:lnSpc>
                <a:spcPct val="130000"/>
              </a:lnSpc>
            </a:pPr>
            <a:r>
              <a:rPr sz="1500">
                <a:solidFill>
                  <a:srgbClr val="1A2332"/>
                </a:solidFill>
                <a:latin typeface="Calibri"/>
              </a:rPr>
              <a:t>• Gestion des dates (timezone)</a:t>
            </a:r>
          </a:p>
          <a:p>
            <a:pPr algn="l">
              <a:lnSpc>
                <a:spcPct val="130000"/>
              </a:lnSpc>
            </a:pPr>
            <a:r>
              <a:rPr sz="1500">
                <a:solidFill>
                  <a:srgbClr val="1A2332"/>
                </a:solidFill>
                <a:latin typeface="Calibri"/>
              </a:rPr>
              <a:t>• Quantization 4-bit Phi-3 (RAM limitée)</a:t>
            </a:r>
          </a:p>
          <a:p>
            <a:pPr algn="l">
              <a:lnSpc>
                <a:spcPct val="130000"/>
              </a:lnSpc>
            </a:pPr>
            <a:r>
              <a:rPr sz="1500">
                <a:solidFill>
                  <a:srgbClr val="1A2332"/>
                </a:solidFill>
                <a:latin typeface="Calibri"/>
              </a:rPr>
              <a:t>• Construction du corpus Q/R (310 paires)</a:t>
            </a:r>
          </a:p>
        </p:txBody>
      </p:sp>
      <p:sp>
        <p:nvSpPr>
          <p:cNvPr id="7" name="TextBox 6"/>
          <p:cNvSpPr txBox="1"/>
          <p:nvPr/>
        </p:nvSpPr>
        <p:spPr>
          <a:xfrm>
            <a:off x="6400800" y="1188720"/>
            <a:ext cx="5486400" cy="457200"/>
          </a:xfrm>
          <a:prstGeom prst="rect">
            <a:avLst/>
          </a:prstGeom>
          <a:noFill/>
        </p:spPr>
        <p:txBody>
          <a:bodyPr wrap="square" lIns="0" rIns="0" tIns="0" bIns="0" anchor="t">
            <a:spAutoFit/>
          </a:bodyPr>
          <a:lstStyle/>
          <a:p>
            <a:pPr algn="l"/>
            <a:r>
              <a:rPr sz="2000" b="1">
                <a:solidFill>
                  <a:srgbClr val="198754"/>
                </a:solidFill>
                <a:latin typeface="Calibri"/>
              </a:rPr>
              <a:t>Solutions apportées</a:t>
            </a:r>
          </a:p>
        </p:txBody>
      </p:sp>
      <p:sp>
        <p:nvSpPr>
          <p:cNvPr id="8" name="TextBox 7"/>
          <p:cNvSpPr txBox="1"/>
          <p:nvPr/>
        </p:nvSpPr>
        <p:spPr>
          <a:xfrm>
            <a:off x="6400800" y="1737360"/>
            <a:ext cx="5486400" cy="4572000"/>
          </a:xfrm>
          <a:prstGeom prst="rect">
            <a:avLst/>
          </a:prstGeom>
          <a:noFill/>
        </p:spPr>
        <p:txBody>
          <a:bodyPr wrap="square">
            <a:spAutoFit/>
          </a:bodyPr>
          <a:lstStyle/>
          <a:p>
            <a:pPr algn="l">
              <a:lnSpc>
                <a:spcPct val="130000"/>
              </a:lnSpc>
            </a:pPr>
            <a:r>
              <a:rPr sz="1500">
                <a:solidFill>
                  <a:srgbClr val="1A2332"/>
                </a:solidFill>
                <a:latin typeface="Calibri"/>
              </a:rPr>
              <a:t>• Branches feature/* + PR systématiques</a:t>
            </a:r>
          </a:p>
          <a:p>
            <a:pPr algn="l">
              <a:lnSpc>
                <a:spcPct val="130000"/>
              </a:lnSpc>
            </a:pPr>
            <a:r>
              <a:rPr sz="1500">
                <a:solidFill>
                  <a:srgbClr val="1A2332"/>
                </a:solidFill>
                <a:latin typeface="Calibri"/>
              </a:rPr>
              <a:t>• Diagrammes UML détaillés (Mermaid)</a:t>
            </a:r>
          </a:p>
          <a:p>
            <a:pPr algn="l">
              <a:lnSpc>
                <a:spcPct val="130000"/>
              </a:lnSpc>
            </a:pPr>
            <a:r>
              <a:rPr sz="1500">
                <a:solidFill>
                  <a:srgbClr val="1A2332"/>
                </a:solidFill>
                <a:latin typeface="Calibri"/>
              </a:rPr>
              <a:t>• settings.TIME_ZONE = Africa/Dakar</a:t>
            </a:r>
          </a:p>
          <a:p>
            <a:pPr algn="l">
              <a:lnSpc>
                <a:spcPct val="130000"/>
              </a:lnSpc>
            </a:pPr>
            <a:r>
              <a:rPr sz="1500">
                <a:solidFill>
                  <a:srgbClr val="1A2332"/>
                </a:solidFill>
                <a:latin typeface="Calibri"/>
              </a:rPr>
              <a:t>• bitsandbytes 4-bit → 6 Go VRAM</a:t>
            </a:r>
          </a:p>
          <a:p>
            <a:pPr algn="l">
              <a:lnSpc>
                <a:spcPct val="130000"/>
              </a:lnSpc>
            </a:pPr>
            <a:r>
              <a:rPr sz="1500">
                <a:solidFill>
                  <a:srgbClr val="1A2332"/>
                </a:solidFill>
                <a:latin typeface="Calibri"/>
              </a:rPr>
              <a:t>• Travail à 2 + relecture croisée</a:t>
            </a:r>
          </a:p>
        </p:txBody>
      </p:sp>
      <p:sp>
        <p:nvSpPr>
          <p:cNvPr id="9" name="Rectangle 8"/>
          <p:cNvSpPr/>
          <p:nvPr/>
        </p:nvSpPr>
        <p:spPr>
          <a:xfrm>
            <a:off x="0" y="6400800"/>
            <a:ext cx="12191695" cy="4572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73952"/>
            <a:ext cx="7315200" cy="320040"/>
          </a:xfrm>
          <a:prstGeom prst="rect">
            <a:avLst/>
          </a:prstGeom>
          <a:noFill/>
        </p:spPr>
        <p:txBody>
          <a:bodyPr wrap="square" lIns="0" rIns="0" tIns="0" bIns="0" anchor="t">
            <a:spAutoFit/>
          </a:bodyPr>
          <a:lstStyle/>
          <a:p>
            <a:pPr algn="l"/>
            <a:r>
              <a:rPr sz="1000" b="0">
                <a:solidFill>
                  <a:srgbClr val="6C757D"/>
                </a:solidFill>
                <a:latin typeface="Calibri"/>
              </a:rPr>
              <a:t>Hanne &amp; Kounta — Gestion Emprunt Matériel Topographique — UFR SI UIDT</a:t>
            </a:r>
          </a:p>
        </p:txBody>
      </p:sp>
      <p:sp>
        <p:nvSpPr>
          <p:cNvPr id="11" name="TextBox 10"/>
          <p:cNvSpPr txBox="1"/>
          <p:nvPr/>
        </p:nvSpPr>
        <p:spPr>
          <a:xfrm>
            <a:off x="10515600" y="6473952"/>
            <a:ext cx="1371600" cy="320040"/>
          </a:xfrm>
          <a:prstGeom prst="rect">
            <a:avLst/>
          </a:prstGeom>
          <a:noFill/>
        </p:spPr>
        <p:txBody>
          <a:bodyPr wrap="square" lIns="0" rIns="0" tIns="0" bIns="0" anchor="t">
            <a:spAutoFit/>
          </a:bodyPr>
          <a:lstStyle/>
          <a:p>
            <a:pPr algn="r"/>
            <a:r>
              <a:rPr sz="1000" b="0">
                <a:solidFill>
                  <a:srgbClr val="6C757D"/>
                </a:solidFill>
                <a:latin typeface="Calibri"/>
              </a:rPr>
              <a:t>19 / 22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28600"/>
            <a:ext cx="10515600" cy="457200"/>
          </a:xfrm>
          <a:prstGeom prst="rect">
            <a:avLst/>
          </a:prstGeom>
          <a:noFill/>
        </p:spPr>
        <p:txBody>
          <a:bodyPr wrap="square" lIns="0" rIns="0" tIns="0" bIns="0" anchor="t">
            <a:spAutoFit/>
          </a:bodyPr>
          <a:lstStyle/>
          <a:p>
            <a:pPr algn="l"/>
            <a:r>
              <a:rPr sz="2400" b="1">
                <a:solidFill>
                  <a:srgbClr val="FFFFFF"/>
                </a:solidFill>
                <a:latin typeface="Calibri"/>
              </a:rPr>
              <a:t>11. Conclusion &amp; perspectives</a:t>
            </a:r>
          </a:p>
        </p:txBody>
      </p:sp>
      <p:sp>
        <p:nvSpPr>
          <p:cNvPr id="4" name="TextBox 3"/>
          <p:cNvSpPr txBox="1"/>
          <p:nvPr/>
        </p:nvSpPr>
        <p:spPr>
          <a:xfrm>
            <a:off x="10515600" y="228600"/>
            <a:ext cx="1371600" cy="457200"/>
          </a:xfrm>
          <a:prstGeom prst="rect">
            <a:avLst/>
          </a:prstGeom>
          <a:noFill/>
        </p:spPr>
        <p:txBody>
          <a:bodyPr wrap="square" lIns="0" rIns="0" tIns="0" bIns="0" anchor="t">
            <a:spAutoFit/>
          </a:bodyPr>
          <a:lstStyle/>
          <a:p>
            <a:pPr algn="r"/>
            <a:r>
              <a:rPr sz="1200" b="0">
                <a:solidFill>
                  <a:srgbClr val="FFFFFF"/>
                </a:solidFill>
                <a:latin typeface="Calibri"/>
              </a:rPr>
              <a:t>20/22</a:t>
            </a:r>
          </a:p>
        </p:txBody>
      </p:sp>
      <p:sp>
        <p:nvSpPr>
          <p:cNvPr id="5" name="TextBox 4"/>
          <p:cNvSpPr txBox="1"/>
          <p:nvPr/>
        </p:nvSpPr>
        <p:spPr>
          <a:xfrm>
            <a:off x="640080" y="1188720"/>
            <a:ext cx="10972800" cy="457200"/>
          </a:xfrm>
          <a:prstGeom prst="rect">
            <a:avLst/>
          </a:prstGeom>
          <a:noFill/>
        </p:spPr>
        <p:txBody>
          <a:bodyPr wrap="square" lIns="0" rIns="0" tIns="0" bIns="0" anchor="t">
            <a:spAutoFit/>
          </a:bodyPr>
          <a:lstStyle/>
          <a:p>
            <a:pPr algn="l"/>
            <a:r>
              <a:rPr sz="2000" b="1">
                <a:solidFill>
                  <a:srgbClr val="0D6EFD"/>
                </a:solidFill>
                <a:latin typeface="Calibri"/>
              </a:rPr>
              <a:t>Bilan du projet</a:t>
            </a:r>
          </a:p>
        </p:txBody>
      </p:sp>
      <p:sp>
        <p:nvSpPr>
          <p:cNvPr id="6" name="TextBox 5"/>
          <p:cNvSpPr txBox="1"/>
          <p:nvPr/>
        </p:nvSpPr>
        <p:spPr>
          <a:xfrm>
            <a:off x="640080" y="1737360"/>
            <a:ext cx="10972800" cy="2286000"/>
          </a:xfrm>
          <a:prstGeom prst="rect">
            <a:avLst/>
          </a:prstGeom>
          <a:noFill/>
        </p:spPr>
        <p:txBody>
          <a:bodyPr wrap="square">
            <a:spAutoFit/>
          </a:bodyPr>
          <a:lstStyle/>
          <a:p>
            <a:pPr algn="l">
              <a:lnSpc>
                <a:spcPct val="130000"/>
              </a:lnSpc>
            </a:pPr>
            <a:r>
              <a:rPr sz="1500">
                <a:solidFill>
                  <a:srgbClr val="1A2332"/>
                </a:solidFill>
                <a:latin typeface="Calibri"/>
              </a:rPr>
              <a:t>• Plateforme web complète et fonctionnelle (5 phases livrées)</a:t>
            </a:r>
          </a:p>
          <a:p>
            <a:pPr algn="l">
              <a:lnSpc>
                <a:spcPct val="130000"/>
              </a:lnSpc>
            </a:pPr>
            <a:r>
              <a:rPr sz="1500">
                <a:solidFill>
                  <a:srgbClr val="1A2332"/>
                </a:solidFill>
                <a:latin typeface="Calibri"/>
              </a:rPr>
              <a:t>• Maîtrise consolidée : Django, DRF, JWT, Bootstrap, Leaflet, IA</a:t>
            </a:r>
          </a:p>
          <a:p>
            <a:pPr algn="l">
              <a:lnSpc>
                <a:spcPct val="130000"/>
              </a:lnSpc>
            </a:pPr>
            <a:r>
              <a:rPr sz="1500">
                <a:solidFill>
                  <a:srgbClr val="1A2332"/>
                </a:solidFill>
                <a:latin typeface="Calibri"/>
              </a:rPr>
              <a:t>• Première expérience réussie de fine-tuning LoRA en français</a:t>
            </a:r>
          </a:p>
          <a:p>
            <a:pPr algn="l">
              <a:lnSpc>
                <a:spcPct val="130000"/>
              </a:lnSpc>
            </a:pPr>
            <a:r>
              <a:rPr sz="1500">
                <a:solidFill>
                  <a:srgbClr val="1A2332"/>
                </a:solidFill>
                <a:latin typeface="Calibri"/>
              </a:rPr>
              <a:t>• Outil immédiatement déployable au département Géomatique</a:t>
            </a:r>
          </a:p>
        </p:txBody>
      </p:sp>
      <p:sp>
        <p:nvSpPr>
          <p:cNvPr id="7" name="TextBox 6"/>
          <p:cNvSpPr txBox="1"/>
          <p:nvPr/>
        </p:nvSpPr>
        <p:spPr>
          <a:xfrm>
            <a:off x="640080" y="3840480"/>
            <a:ext cx="10972800" cy="457200"/>
          </a:xfrm>
          <a:prstGeom prst="rect">
            <a:avLst/>
          </a:prstGeom>
          <a:noFill/>
        </p:spPr>
        <p:txBody>
          <a:bodyPr wrap="square" lIns="0" rIns="0" tIns="0" bIns="0" anchor="t">
            <a:spAutoFit/>
          </a:bodyPr>
          <a:lstStyle/>
          <a:p>
            <a:pPr algn="l"/>
            <a:r>
              <a:rPr sz="2000" b="1">
                <a:solidFill>
                  <a:srgbClr val="198754"/>
                </a:solidFill>
                <a:latin typeface="Calibri"/>
              </a:rPr>
              <a:t>Perspectives</a:t>
            </a:r>
          </a:p>
        </p:txBody>
      </p:sp>
      <p:sp>
        <p:nvSpPr>
          <p:cNvPr id="8" name="TextBox 7"/>
          <p:cNvSpPr txBox="1"/>
          <p:nvPr/>
        </p:nvSpPr>
        <p:spPr>
          <a:xfrm>
            <a:off x="640080" y="4389120"/>
            <a:ext cx="10972800" cy="1828800"/>
          </a:xfrm>
          <a:prstGeom prst="rect">
            <a:avLst/>
          </a:prstGeom>
          <a:noFill/>
        </p:spPr>
        <p:txBody>
          <a:bodyPr wrap="square">
            <a:spAutoFit/>
          </a:bodyPr>
          <a:lstStyle/>
          <a:p>
            <a:pPr algn="l">
              <a:lnSpc>
                <a:spcPct val="130000"/>
              </a:lnSpc>
            </a:pPr>
            <a:r>
              <a:rPr sz="1500">
                <a:solidFill>
                  <a:srgbClr val="1A2332"/>
                </a:solidFill>
                <a:latin typeface="Calibri"/>
              </a:rPr>
              <a:t>• Application mobile (React Native) pour étudiants sur le terrain</a:t>
            </a:r>
          </a:p>
          <a:p>
            <a:pPr algn="l">
              <a:lnSpc>
                <a:spcPct val="130000"/>
              </a:lnSpc>
            </a:pPr>
            <a:r>
              <a:rPr sz="1500">
                <a:solidFill>
                  <a:srgbClr val="1A2332"/>
                </a:solidFill>
                <a:latin typeface="Calibri"/>
              </a:rPr>
              <a:t>• Intégration QR-code sur chaque matériel (scan = restitution)</a:t>
            </a:r>
          </a:p>
          <a:p>
            <a:pPr algn="l">
              <a:lnSpc>
                <a:spcPct val="130000"/>
              </a:lnSpc>
            </a:pPr>
            <a:r>
              <a:rPr sz="1500">
                <a:solidFill>
                  <a:srgbClr val="1A2332"/>
                </a:solidFill>
                <a:latin typeface="Calibri"/>
              </a:rPr>
              <a:t>• Notifications push + email (rappels échéance)</a:t>
            </a:r>
          </a:p>
          <a:p>
            <a:pPr algn="l">
              <a:lnSpc>
                <a:spcPct val="130000"/>
              </a:lnSpc>
            </a:pPr>
            <a:r>
              <a:rPr sz="1500">
                <a:solidFill>
                  <a:srgbClr val="1A2332"/>
                </a:solidFill>
                <a:latin typeface="Calibri"/>
              </a:rPr>
              <a:t>• Migration PostgreSQL + déploiement sur serveur UFR</a:t>
            </a:r>
          </a:p>
        </p:txBody>
      </p:sp>
      <p:sp>
        <p:nvSpPr>
          <p:cNvPr id="9" name="Rectangle 8"/>
          <p:cNvSpPr/>
          <p:nvPr/>
        </p:nvSpPr>
        <p:spPr>
          <a:xfrm>
            <a:off x="0" y="6400800"/>
            <a:ext cx="12191695" cy="4572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73952"/>
            <a:ext cx="7315200" cy="320040"/>
          </a:xfrm>
          <a:prstGeom prst="rect">
            <a:avLst/>
          </a:prstGeom>
          <a:noFill/>
        </p:spPr>
        <p:txBody>
          <a:bodyPr wrap="square" lIns="0" rIns="0" tIns="0" bIns="0" anchor="t">
            <a:spAutoFit/>
          </a:bodyPr>
          <a:lstStyle/>
          <a:p>
            <a:pPr algn="l"/>
            <a:r>
              <a:rPr sz="1000" b="0">
                <a:solidFill>
                  <a:srgbClr val="6C757D"/>
                </a:solidFill>
                <a:latin typeface="Calibri"/>
              </a:rPr>
              <a:t>Hanne &amp; Kounta — Gestion Emprunt Matériel Topographique — UFR SI UIDT</a:t>
            </a:r>
          </a:p>
        </p:txBody>
      </p:sp>
      <p:sp>
        <p:nvSpPr>
          <p:cNvPr id="11" name="TextBox 10"/>
          <p:cNvSpPr txBox="1"/>
          <p:nvPr/>
        </p:nvSpPr>
        <p:spPr>
          <a:xfrm>
            <a:off x="10515600" y="6473952"/>
            <a:ext cx="1371600" cy="320040"/>
          </a:xfrm>
          <a:prstGeom prst="rect">
            <a:avLst/>
          </a:prstGeom>
          <a:noFill/>
        </p:spPr>
        <p:txBody>
          <a:bodyPr wrap="square" lIns="0" rIns="0" tIns="0" bIns="0" anchor="t">
            <a:spAutoFit/>
          </a:bodyPr>
          <a:lstStyle/>
          <a:p>
            <a:pPr algn="r"/>
            <a:r>
              <a:rPr sz="1000" b="0">
                <a:solidFill>
                  <a:srgbClr val="6C757D"/>
                </a:solidFill>
                <a:latin typeface="Calibri"/>
              </a:rPr>
              <a:t>20 / 22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14400"/>
          </a:xfrm>
          <a:prstGeom prst="rect">
            <a:avLst/>
          </a:prstGeom>
          <a:solidFill>
            <a:srgbClr val="0D6E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828800"/>
            <a:ext cx="10972800" cy="731520"/>
          </a:xfrm>
          <a:prstGeom prst="rect">
            <a:avLst/>
          </a:prstGeom>
          <a:noFill/>
        </p:spPr>
        <p:txBody>
          <a:bodyPr wrap="square" lIns="0" rIns="0" tIns="0" bIns="0" anchor="t">
            <a:spAutoFit/>
          </a:bodyPr>
          <a:lstStyle/>
          <a:p>
            <a:pPr algn="ctr"/>
            <a:r>
              <a:rPr sz="4200" b="1">
                <a:solidFill>
                  <a:srgbClr val="0A3D91"/>
                </a:solidFill>
                <a:latin typeface="Calibri"/>
              </a:rPr>
              <a:t>REMERCIEMENTS</a:t>
            </a:r>
          </a:p>
        </p:txBody>
      </p:sp>
      <p:sp>
        <p:nvSpPr>
          <p:cNvPr id="4" name="TextBox 3"/>
          <p:cNvSpPr txBox="1"/>
          <p:nvPr/>
        </p:nvSpPr>
        <p:spPr>
          <a:xfrm>
            <a:off x="640080" y="2926080"/>
            <a:ext cx="10972800" cy="2743200"/>
          </a:xfrm>
          <a:prstGeom prst="rect">
            <a:avLst/>
          </a:prstGeom>
          <a:noFill/>
        </p:spPr>
        <p:txBody>
          <a:bodyPr wrap="square" lIns="0" rIns="0" tIns="0" bIns="0" anchor="t">
            <a:spAutoFit/>
          </a:bodyPr>
          <a:lstStyle/>
          <a:p>
            <a:pPr algn="ctr"/>
            <a:r>
              <a:rPr sz="1600" b="0">
                <a:solidFill>
                  <a:srgbClr val="1A2332"/>
                </a:solidFill>
                <a:latin typeface="Calibri"/>
              </a:rPr>
              <a:t>Nous remercions chaleureusement notre encadrant pédagogique, l'équipe enseignante du département Géomatique, ainsi que l'UFR Sciences et Ingénierie pour l'accès aux ressources matérielles et humaines tout au long de ce projet.
Merci également à nos camarades de promotion pour les échanges constructifs.</a:t>
            </a:r>
          </a:p>
        </p:txBody>
      </p:sp>
      <p:sp>
        <p:nvSpPr>
          <p:cNvPr id="5" name="TextBox 4"/>
          <p:cNvSpPr txBox="1"/>
          <p:nvPr/>
        </p:nvSpPr>
        <p:spPr>
          <a:xfrm>
            <a:off x="640080" y="5669280"/>
            <a:ext cx="10972800" cy="457200"/>
          </a:xfrm>
          <a:prstGeom prst="rect">
            <a:avLst/>
          </a:prstGeom>
          <a:noFill/>
        </p:spPr>
        <p:txBody>
          <a:bodyPr wrap="square" lIns="0" rIns="0" tIns="0" bIns="0" anchor="t">
            <a:spAutoFit/>
          </a:bodyPr>
          <a:lstStyle/>
          <a:p>
            <a:pPr algn="ctr"/>
            <a:r>
              <a:rPr sz="1400" b="1">
                <a:solidFill>
                  <a:srgbClr val="6C757D"/>
                </a:solidFill>
                <a:latin typeface="Calibri"/>
              </a:rPr>
              <a:t>Bineta HANNE &amp; Aminata KOUNTA — L2 Géomatique 2025-2026</a:t>
            </a:r>
          </a:p>
        </p:txBody>
      </p:sp>
      <p:sp>
        <p:nvSpPr>
          <p:cNvPr id="6" name="Rectangle 5"/>
          <p:cNvSpPr/>
          <p:nvPr/>
        </p:nvSpPr>
        <p:spPr>
          <a:xfrm>
            <a:off x="0" y="6400800"/>
            <a:ext cx="12191695" cy="4572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73952"/>
            <a:ext cx="7315200" cy="320040"/>
          </a:xfrm>
          <a:prstGeom prst="rect">
            <a:avLst/>
          </a:prstGeom>
          <a:noFill/>
        </p:spPr>
        <p:txBody>
          <a:bodyPr wrap="square" lIns="0" rIns="0" tIns="0" bIns="0" anchor="t">
            <a:spAutoFit/>
          </a:bodyPr>
          <a:lstStyle/>
          <a:p>
            <a:pPr algn="l"/>
            <a:r>
              <a:rPr sz="1000" b="0">
                <a:solidFill>
                  <a:srgbClr val="6C757D"/>
                </a:solidFill>
                <a:latin typeface="Calibri"/>
              </a:rPr>
              <a:t>Hanne &amp; Kounta — Gestion Emprunt Matériel Topographique — UFR SI UIDT</a:t>
            </a:r>
          </a:p>
        </p:txBody>
      </p:sp>
      <p:sp>
        <p:nvSpPr>
          <p:cNvPr id="8" name="TextBox 7"/>
          <p:cNvSpPr txBox="1"/>
          <p:nvPr/>
        </p:nvSpPr>
        <p:spPr>
          <a:xfrm>
            <a:off x="10515600" y="6473952"/>
            <a:ext cx="1371600" cy="320040"/>
          </a:xfrm>
          <a:prstGeom prst="rect">
            <a:avLst/>
          </a:prstGeom>
          <a:noFill/>
        </p:spPr>
        <p:txBody>
          <a:bodyPr wrap="square" lIns="0" rIns="0" tIns="0" bIns="0" anchor="t">
            <a:spAutoFit/>
          </a:bodyPr>
          <a:lstStyle/>
          <a:p>
            <a:pPr algn="r"/>
            <a:r>
              <a:rPr sz="1000" b="0">
                <a:solidFill>
                  <a:srgbClr val="6C757D"/>
                </a:solidFill>
                <a:latin typeface="Calibri"/>
              </a:rPr>
              <a:t>21 / 22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3D91"/>
        </a:solidFill>
        <a:effectLst/>
      </p:bgPr>
    </p:bg>
    <p:spTree>
      <p:nvGrpSpPr>
        <p:cNvPr id="1" name=""/>
        <p:cNvGrpSpPr/>
        <p:nvPr/>
      </p:nvGrpSpPr>
      <p:grpSpPr/>
      <p:sp>
        <p:nvSpPr>
          <p:cNvPr id="2" name="TextBox 1"/>
          <p:cNvSpPr txBox="1"/>
          <p:nvPr/>
        </p:nvSpPr>
        <p:spPr>
          <a:xfrm>
            <a:off x="640080" y="2286000"/>
            <a:ext cx="10972800" cy="1828800"/>
          </a:xfrm>
          <a:prstGeom prst="rect">
            <a:avLst/>
          </a:prstGeom>
          <a:noFill/>
        </p:spPr>
        <p:txBody>
          <a:bodyPr wrap="square" lIns="0" rIns="0" tIns="0" bIns="0" anchor="ctr">
            <a:spAutoFit/>
          </a:bodyPr>
          <a:lstStyle/>
          <a:p>
            <a:pPr algn="ctr"/>
            <a:r>
              <a:rPr sz="5400" b="1">
                <a:solidFill>
                  <a:srgbClr val="FFFFFF"/>
                </a:solidFill>
                <a:latin typeface="Calibri"/>
              </a:rPr>
              <a:t>MERCI POUR
VOTRE ATTENTION</a:t>
            </a:r>
          </a:p>
        </p:txBody>
      </p:sp>
      <p:sp>
        <p:nvSpPr>
          <p:cNvPr id="3" name="Rectangle 2"/>
          <p:cNvSpPr/>
          <p:nvPr/>
        </p:nvSpPr>
        <p:spPr>
          <a:xfrm>
            <a:off x="5120640" y="4297680"/>
            <a:ext cx="1828800" cy="40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572000"/>
            <a:ext cx="10972800" cy="731520"/>
          </a:xfrm>
          <a:prstGeom prst="rect">
            <a:avLst/>
          </a:prstGeom>
          <a:noFill/>
        </p:spPr>
        <p:txBody>
          <a:bodyPr wrap="square" lIns="0" rIns="0" tIns="0" bIns="0" anchor="ctr">
            <a:spAutoFit/>
          </a:bodyPr>
          <a:lstStyle/>
          <a:p>
            <a:pPr algn="ctr"/>
            <a:r>
              <a:rPr sz="2800" b="0">
                <a:solidFill>
                  <a:srgbClr val="FFFFFF"/>
                </a:solidFill>
                <a:latin typeface="Calibri"/>
              </a:rPr>
              <a:t>Place aux questions</a:t>
            </a:r>
          </a:p>
        </p:txBody>
      </p:sp>
      <p:sp>
        <p:nvSpPr>
          <p:cNvPr id="5" name="TextBox 4"/>
          <p:cNvSpPr txBox="1"/>
          <p:nvPr/>
        </p:nvSpPr>
        <p:spPr>
          <a:xfrm>
            <a:off x="640080" y="5943600"/>
            <a:ext cx="10972800" cy="457200"/>
          </a:xfrm>
          <a:prstGeom prst="rect">
            <a:avLst/>
          </a:prstGeom>
          <a:noFill/>
        </p:spPr>
        <p:txBody>
          <a:bodyPr wrap="square" lIns="0" rIns="0" tIns="0" bIns="0" anchor="t">
            <a:spAutoFit/>
          </a:bodyPr>
          <a:lstStyle/>
          <a:p>
            <a:pPr algn="ctr"/>
            <a:r>
              <a:rPr sz="1400" b="0">
                <a:solidFill>
                  <a:srgbClr val="FFFFFF"/>
                </a:solidFill>
                <a:latin typeface="Calibri"/>
              </a:rPr>
              <a:t>github.com/binouhanne/gestion-emprunt-materiel-ufr-si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